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d55b7dd5b4400" /><Relationship Type="http://schemas.openxmlformats.org/officeDocument/2006/relationships/extended-properties" Target="/docProps/app.xml" Id="R6038972d606b4b70" /><Relationship Type="http://schemas.openxmlformats.org/officeDocument/2006/relationships/officeDocument" Target="/ppt/presentation.xml" Id="Reecf34b4b04c4c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89a17e5724fe6"/>
  </p:sldMasterIdLst>
  <p:notesMasterIdLst>
    <p:notesMasterId xmlns:r="http://schemas.openxmlformats.org/officeDocument/2006/relationships" r:id="Re13c55d69b71422a"/>
  </p:notesMasterIdLst>
  <p:sldIdLst>
    <p:sldId xmlns:r="http://schemas.openxmlformats.org/officeDocument/2006/relationships" id="256" r:id="R8c5191ae0d524a60"/>
    <p:sldId xmlns:r="http://schemas.openxmlformats.org/officeDocument/2006/relationships" id="257" r:id="R90dc758d5b094601"/>
    <p:sldId xmlns:r="http://schemas.openxmlformats.org/officeDocument/2006/relationships" id="258" r:id="R4ff77ab932134059"/>
    <p:sldId xmlns:r="http://schemas.openxmlformats.org/officeDocument/2006/relationships" id="259" r:id="R59d735235e6d4608"/>
    <p:sldId xmlns:r="http://schemas.openxmlformats.org/officeDocument/2006/relationships" id="260" r:id="R4289213d175e4311"/>
    <p:sldId xmlns:r="http://schemas.openxmlformats.org/officeDocument/2006/relationships" id="261" r:id="Rc1bb04f3435445e4"/>
    <p:sldId xmlns:r="http://schemas.openxmlformats.org/officeDocument/2006/relationships" id="262" r:id="R0b9f34e45e434455"/>
    <p:sldId xmlns:r="http://schemas.openxmlformats.org/officeDocument/2006/relationships" id="263" r:id="Rc11fe7aad4374faf"/>
    <p:sldId xmlns:r="http://schemas.openxmlformats.org/officeDocument/2006/relationships" id="264" r:id="R70204af999ea48c1"/>
    <p:sldId xmlns:r="http://schemas.openxmlformats.org/officeDocument/2006/relationships" id="265" r:id="R664178fc4ba44110"/>
    <p:sldId xmlns:r="http://schemas.openxmlformats.org/officeDocument/2006/relationships" id="266" r:id="Rcbb18ec7ca7846db"/>
    <p:sldId xmlns:r="http://schemas.openxmlformats.org/officeDocument/2006/relationships" id="267" r:id="Rc2d7c9204ea9415a"/>
    <p:sldId xmlns:r="http://schemas.openxmlformats.org/officeDocument/2006/relationships" id="268" r:id="R9b05d3a2743a4900"/>
    <p:sldId xmlns:r="http://schemas.openxmlformats.org/officeDocument/2006/relationships" id="269" r:id="R210b09ae0c0447aa"/>
    <p:sldId xmlns:r="http://schemas.openxmlformats.org/officeDocument/2006/relationships" id="270" r:id="R9a9336ec90c64019"/>
    <p:sldId xmlns:r="http://schemas.openxmlformats.org/officeDocument/2006/relationships" id="271" r:id="R682954e941a342b9"/>
    <p:sldId xmlns:r="http://schemas.openxmlformats.org/officeDocument/2006/relationships" id="272" r:id="R3d6abd5b4fd14c71"/>
    <p:sldId xmlns:r="http://schemas.openxmlformats.org/officeDocument/2006/relationships" id="273" r:id="R66387da114a344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b76fef57074cbe" /><Relationship Type="http://schemas.openxmlformats.org/officeDocument/2006/relationships/slideMaster" Target="/ppt/slideMasters/slideMaster1.xml" Id="R1e989a17e5724fe6" /><Relationship Type="http://schemas.openxmlformats.org/officeDocument/2006/relationships/notesMaster" Target="/ppt/notesMasters/notesMaster1.xml" Id="Re13c55d69b71422a" /><Relationship Type="http://schemas.openxmlformats.org/officeDocument/2006/relationships/presProps" Target="/ppt/presProps.xml" Id="R9ab38916f5274ce6" /><Relationship Type="http://schemas.openxmlformats.org/officeDocument/2006/relationships/tableStyles" Target="/ppt/tableStyles.xml" Id="R7dffd05b0bb8435f" /><Relationship Type="http://schemas.openxmlformats.org/officeDocument/2006/relationships/slide" Target="/ppt/slides/slide1.xml" Id="R8c5191ae0d524a60" /><Relationship Type="http://schemas.openxmlformats.org/officeDocument/2006/relationships/slide" Target="/ppt/slides/slide2.xml" Id="R90dc758d5b094601" /><Relationship Type="http://schemas.openxmlformats.org/officeDocument/2006/relationships/slide" Target="/ppt/slides/slide3.xml" Id="R4ff77ab932134059" /><Relationship Type="http://schemas.openxmlformats.org/officeDocument/2006/relationships/slide" Target="/ppt/slides/slide4.xml" Id="R59d735235e6d4608" /><Relationship Type="http://schemas.openxmlformats.org/officeDocument/2006/relationships/slide" Target="/ppt/slides/slide5.xml" Id="R4289213d175e4311" /><Relationship Type="http://schemas.openxmlformats.org/officeDocument/2006/relationships/slide" Target="/ppt/slides/slide6.xml" Id="Rc1bb04f3435445e4" /><Relationship Type="http://schemas.openxmlformats.org/officeDocument/2006/relationships/slide" Target="/ppt/slides/slide7.xml" Id="R0b9f34e45e434455" /><Relationship Type="http://schemas.openxmlformats.org/officeDocument/2006/relationships/slide" Target="/ppt/slides/slide8.xml" Id="Rc11fe7aad4374faf" /><Relationship Type="http://schemas.openxmlformats.org/officeDocument/2006/relationships/slide" Target="/ppt/slides/slide9.xml" Id="R70204af999ea48c1" /><Relationship Type="http://schemas.openxmlformats.org/officeDocument/2006/relationships/slide" Target="/ppt/slides/slide10.xml" Id="R664178fc4ba44110" /><Relationship Type="http://schemas.openxmlformats.org/officeDocument/2006/relationships/slide" Target="/ppt/slides/slide11.xml" Id="Rcbb18ec7ca7846db" /><Relationship Type="http://schemas.openxmlformats.org/officeDocument/2006/relationships/slide" Target="/ppt/slides/slide12.xml" Id="Rc2d7c9204ea9415a" /><Relationship Type="http://schemas.openxmlformats.org/officeDocument/2006/relationships/slide" Target="/ppt/slides/slide13.xml" Id="R9b05d3a2743a4900" /><Relationship Type="http://schemas.openxmlformats.org/officeDocument/2006/relationships/slide" Target="/ppt/slides/slide14.xml" Id="R210b09ae0c0447aa" /><Relationship Type="http://schemas.openxmlformats.org/officeDocument/2006/relationships/slide" Target="/ppt/slides/slide15.xml" Id="R9a9336ec90c64019" /><Relationship Type="http://schemas.openxmlformats.org/officeDocument/2006/relationships/slide" Target="/ppt/slides/slide16.xml" Id="R682954e941a342b9" /><Relationship Type="http://schemas.openxmlformats.org/officeDocument/2006/relationships/slide" Target="/ppt/slides/slide17.xml" Id="R3d6abd5b4fd14c71" /><Relationship Type="http://schemas.openxmlformats.org/officeDocument/2006/relationships/slide" Target="/ppt/slides/slide18.xml" Id="R66387da114a344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f50415df4747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10b0d515d141db" /><Relationship Type="http://schemas.openxmlformats.org/officeDocument/2006/relationships/notesMaster" Target="/ppt/notesMasters/notesMaster1.xml" Id="R06ee9d253e9e4f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cae2783a04efb" /><Relationship Type="http://schemas.openxmlformats.org/officeDocument/2006/relationships/notesMaster" Target="/ppt/notesMasters/notesMaster1.xml" Id="Ra5916818c63745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fe02fb5b0f4cae" /><Relationship Type="http://schemas.openxmlformats.org/officeDocument/2006/relationships/notesMaster" Target="/ppt/notesMasters/notesMaster1.xml" Id="R5f995945efe647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62cc9ce0a04dab" /><Relationship Type="http://schemas.openxmlformats.org/officeDocument/2006/relationships/notesMaster" Target="/ppt/notesMasters/notesMaster1.xml" Id="R20a12bad6e844a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608584eaca4be9" /><Relationship Type="http://schemas.openxmlformats.org/officeDocument/2006/relationships/notesMaster" Target="/ppt/notesMasters/notesMaster1.xml" Id="R50f645dbc8814d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81458012e849a3" /><Relationship Type="http://schemas.openxmlformats.org/officeDocument/2006/relationships/notesMaster" Target="/ppt/notesMasters/notesMaster1.xml" Id="R58f6286e441d48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d4be5f8fc94e01" /><Relationship Type="http://schemas.openxmlformats.org/officeDocument/2006/relationships/notesMaster" Target="/ppt/notesMasters/notesMaster1.xml" Id="R168feaeb038b44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523e4d320e4be9" /><Relationship Type="http://schemas.openxmlformats.org/officeDocument/2006/relationships/notesMaster" Target="/ppt/notesMasters/notesMaster1.xml" Id="R1f347b21129b44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63665a9c764367" /><Relationship Type="http://schemas.openxmlformats.org/officeDocument/2006/relationships/notesMaster" Target="/ppt/notesMasters/notesMaster1.xml" Id="Rc87504946a6644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28dd170394db7" /><Relationship Type="http://schemas.openxmlformats.org/officeDocument/2006/relationships/notesMaster" Target="/ppt/notesMasters/notesMaster1.xml" Id="R4f628706803841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c0da8040044391" /><Relationship Type="http://schemas.openxmlformats.org/officeDocument/2006/relationships/notesMaster" Target="/ppt/notesMasters/notesMaster1.xml" Id="R0c2e096b680144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cf57017f354877" /><Relationship Type="http://schemas.openxmlformats.org/officeDocument/2006/relationships/notesMaster" Target="/ppt/notesMasters/notesMaster1.xml" Id="R4a452ad8a9714e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6500fd1ff44fe6" /><Relationship Type="http://schemas.openxmlformats.org/officeDocument/2006/relationships/notesMaster" Target="/ppt/notesMasters/notesMaster1.xml" Id="R427aae605a6643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62c8e84c084d29" /><Relationship Type="http://schemas.openxmlformats.org/officeDocument/2006/relationships/notesMaster" Target="/ppt/notesMasters/notesMaster1.xml" Id="R16c47b43152e43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fc7f345c5a4a48" /><Relationship Type="http://schemas.openxmlformats.org/officeDocument/2006/relationships/notesMaster" Target="/ppt/notesMasters/notesMaster1.xml" Id="Rb2307356786e49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cec268076a4e00" /><Relationship Type="http://schemas.openxmlformats.org/officeDocument/2006/relationships/notesMaster" Target="/ppt/notesMasters/notesMaster1.xml" Id="R1a518c48988143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66050e17c14566" /><Relationship Type="http://schemas.openxmlformats.org/officeDocument/2006/relationships/notesMaster" Target="/ppt/notesMasters/notesMaster1.xml" Id="Ref33cb8ff0ce44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cfe7cf2db64548" /><Relationship Type="http://schemas.openxmlformats.org/officeDocument/2006/relationships/notesMaster" Target="/ppt/notesMasters/notesMaster1.xml" Id="R2ce57b4e21864f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场景和2 TOPS估计由用户提供。重点动作根据项目已有NTU60标签选取：41 sneeze/cough，42 staggering，43 falling，45 touch chest，48 nausea or vomiting condition。这里是监测关注类别，不表示已完成针对这些类别的专项性能验证；动作识别不直接等同疾病诊断。batch指并行人体序列数，而非训练batch或单序列num_person。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\\wsl.localhost\Ubuntu-22.04\home\sjh\program\skeleton-baed_HAR\data\label_mappings\ntu60\semantic_coarse_v1.csv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第1章已有本次汇报背景与大纲，不声称论文已完成。第2章四组训练结果来自用户日志，checkpoint仍待独立核验；LocalT3尚未训练。第3章意图控制与prefix_multi为历史24关节双人实验，蒸馏无已完成结果。第4章Beam search为用户提供既往经验，非RCA优化完成。第5章仓库已有历史关节裁剪记录，尚无20人100ms端侧验证。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  <a:p xmlns:a="http://schemas.openxmlformats.org/drawingml/2006/main">
            <a:r>
              <a:t>\\wsl.localhost\Ubuntu-22.04\home\sjh\program\skeleton-baed_HAR\experiments\archive\early_recognition\H1_prefix-baseline\analysis.md</a:t>
            </a:r>
          </a:p>
          <a:p xmlns:a="http://schemas.openxmlformats.org/drawingml/2006/main">
            <a:r>
              <a:t>\\wsl.localhost\Ubuntu-22.04\home\sjh\program\skeleton-baed_HAR\experiments\archive\early_recognition\H2_single-module-ablation\analysis.md</a:t>
            </a:r>
          </a:p>
          <a:p xmlns:a="http://schemas.openxmlformats.org/drawingml/2006/main">
            <a:r>
              <a:t>\\wsl.localhost\Ubuntu-22.04\home\sjh\program\skeleton-baed_HAR\experiments\archive\legacy_joint_pruning\2026_5_12_legacy_joint_pruning_summary.md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示意保留关键数据流，残差跳连、attention内部QKV和门控网络未逐线展开。左侧六路为G-Conv、T-Conv及4类分区Attention，之后concat和输出投影。右侧空间/时间关系生成器和共享Value均从归一化输入取得特征；关系先空间聚合，再池化到时间锚点、执行时间聚合，按关系分量门控后合并通道。RCA输出投影后残差，FFN前还有LN，图中作简写。对比的是block组织而非完整模型st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\\wsl.localhost\Ubuntu-22.04\home\sjh\program\skeleton-baed_HAR\SkateFormer\model\operators\skate_rca_block.py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  <a:p xmlns:a="http://schemas.openxmlformats.org/drawingml/2006/main">
            <a:r>
              <a:t>\\wsl.localhost\Ubuntu-22.04\home\sjh\program\skeleton-baed_HAR\experiments\current\inference_20261012\README.md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来源：本仓库 SkateFormer/assets/network.png；SkateFormer 官方实现 https://github.com/KAIST-VICLab/SkateFormer ，ECCV 2024。图保留原始比例。不能表述为分支完全无法互相学习，映射层、输出投影及后续block仍传递信息。四种类型组合了邻近/远距离关节与局部/全局时间关系。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原材料中MLP占70.45% MAC但约5%延迟。Graph Conv为8次小einsum；Temporal Conv groups=8。只呈现可解释的MAC分布，未把来源不一致的单块总耗时拼成一张精确延迟饼图。分区会使有效窗口batch增加，问题应描述为每个矩阵规模小、通道窄和调度碎片化，不能说batch被切小。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关系分量按通道分组；每个分量经过空间与时间聚合，门控后拼回通道，再out_proj。不是两个完整C维输出直接加权求和。R是关系分量数量，并不保证每个注意力矩阵的数学秩等于2。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\\wsl.localhost\Ubuntu-22.04\home\sjh\program\skeleton-baed_HAR\SkateFormer\model\operators\skate_rca_block.py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简写单样本单通道下的矩阵运算。T×A注意力作用于池化后的value。s由softplus学习。复杂度宜按具体张量和算子分析，不能说attention参数指数增长或统一减少7/8计算量。当前可学习图偏置不是人体真实拓扑先验。原设想中的RoPE、显式远近关系先验保留为研究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\\wsl.localhost\Ubuntu-22.04\home\sjh\program\skeleton-baed_HAR\SkateFormer\model\operators\skate_rca_block.py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：(1.5912-1.1795)/1.5912=25.87%；(1.6513-1.1795)/1.6513=28.57%。因此不能写两种对照都降低30%以上。用户贴出的RCA默认FFN=max(1,mlp_ratio*0.5)，而当前整网正式对照显式FFN4。原型未给出完整输入与测试协议，保留为探索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全部为同一bs128训练协议。M1参数3,376,819，B0为3,386,707，减少0.292%。单seed不足以支持显著性结论。A32仅比A16高0.0061个百分点。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每次forward前后同步CUDA，以perf_counter记录包含Python调度的墙钟延迟。FP32 TF32 off，输入(1,3,64,14,1)。每模型预热80次，轮内额外10次，交替测试顺序。FLOPs为profiler支持算子的部分计数，不是完整MAC。均值/尾延迟来自同次实验；不可与10月13日不同运行混用。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\\wsl.localhost\Ubuntu-22.04\home\sjh\program\skeleton-baed_HAR\experiments\current\inference_20261012\README.md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速度数据不能表述为对应checkpoint延迟。16锚点轮均9.61–10.31ms，32锚点9.63–11.45ms，区间重叠；2.34%不是跨设备固定开销。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\\wsl.localhost\Ubuntu-22.04\home\sjh\program\skeleton-baed_HAR\experiments\current\anchors_20261013\README.md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八个block均启用分支。已有前向/反向和零缩放等价性验证，不等于训练完成。默认旧配置关闭该分支。3个模型按全部6种顺序测试，包含Python调度不含骨架提取。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\\wsl.localhost\Ubuntu-22.04\home\sjh\program\skeleton-baed_HAR\experiments\current\localt3_20261013\README.md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为历史归档H1/H2，非2026-10-13新跑结果。prefix_multi六比例Top1为31.88/68.92/85.52/90.17/91.44/91.42，均值76.56。单比例r=.1/.3为27.66/67.04。用户章节3.2少写baseline，3.3聚焦意图分类控制+蒸馏。后续宜对照KD-only与意图+KD，防止将蒸馏单独收益误归因于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\\wsl.localhost\Ubuntu-22.04\home\sjh\program\skeleton-baed_HAR\experiments\archive\early_recognition\H1_prefix-baseline\analysis.md</a:t>
            </a:r>
          </a:p>
          <a:p xmlns:a="http://schemas.openxmlformats.org/drawingml/2006/main">
            <a:r>
              <a:t>\\wsl.localhost\Ubuntu-22.04\home\sjh\program\skeleton-baed_HAR\experiments\archive\early_recognition\H2_single-module-ablation\analysis.md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Beam search信息来自用户提供材料，未独立核验。参考文档：https://ucn5dc94hage.feishu.cn/docx/DdBYdgCupodmrax2rhFcBI41nhc 。其他用户提供链接：骨架模型剪枝 https://ucn5dc94hage.feishu.cn/wiki/V9aSwPFJhivWuckbbeoc5ebznRO ；关节点数量 https://ucn5dc94hage.feishu.cn/docx/J5nxdY0lpoWMl0xnWhdc2o5lnIg ；嵌入式选型 https://ucn5dc94hage.feishu.cn/docx/NiCiduUZ5omrOixR1ZwctP6Pnec 。这些链接的正文未被核验，未补写其中未提供的结果。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实验安排是建议的下一步，不代表已有完成结果。分阶段推进，保持所有比较的输入、精度模式、计时范围和模型版本一致。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\\wsl.localhost\Ubuntu-22.04\home\sjh\program\skeleton-baed_HAR\experiments\RESULTS.md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大纲按用户提供内容整理。第3章标题不等于意图控制方案效果已得到证实，实验中应保留负结果。蒸馏参考链接：https://ucn5dc94hage.feishu.cn/wiki/CvMew7uhIi8zrJksfdJcE9uAnAg ，正文当前未读取。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大纲按用户原文保留。5.2重点是上游骨架提取模型，5.3可区分动作识别模型压缩与上游姿态模型压缩。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[B,C,64,14]重排为[B,C,8,8,2,7]，再变为[B,8,2,8,7,C]，最后[B×16,56,C]。这里实际QKV分区通道为3C/8=72。Type1连续时间0–7，Type3稀疏时间0,8,16,...,56。远近关节由预先排列的拓扑顺序定义，不是任意连续编号。资料来源为用户提供的分区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28f437e2341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1daeb7da847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c3dfd8e2048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5fcf8e49447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fa501e3a644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094246d4f42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C7A95B-B808-446B-80DC-E06622293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4FE0470-4FF2-4791-888D-6287AC02F1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C7052B-537E-4BE9-9723-C838BC051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03EA8E-CA91-48BF-8C16-3E59E2C68B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994963-0D35-4E96-8E8A-7243BBFCFF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C8C371-5D04-4991-8EDC-A6094FE5C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955F2C-AD24-4B94-A2FC-1B741FE635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785B28-FA88-44A5-8BEC-25D0FB65EB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5F0A5C-A2A0-42EF-86EC-6BD5D69EE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EEA19D-B07D-48FD-938A-4F3C76B1B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ef9cfb52d34e6b" /><Relationship Type="http://schemas.openxmlformats.org/officeDocument/2006/relationships/slideLayout" Target="/ppt/slideLayouts/slideLayout1.xml" Id="R35839fab843e4a9f" /><Relationship Type="http://schemas.openxmlformats.org/officeDocument/2006/relationships/slideLayout" Target="/ppt/slideLayouts/slideLayout2.xml" Id="R0fdbb20212ff434a" /><Relationship Type="http://schemas.openxmlformats.org/officeDocument/2006/relationships/slideLayout" Target="/ppt/slideLayouts/slideLayout3.xml" Id="Rc64fd72200204b4a" /><Relationship Type="http://schemas.openxmlformats.org/officeDocument/2006/relationships/slideLayout" Target="/ppt/slideLayouts/slideLayout4.xml" Id="Rd107747d22dd4796" /><Relationship Type="http://schemas.openxmlformats.org/officeDocument/2006/relationships/slideLayout" Target="/ppt/slideLayouts/slideLayout5.xml" Id="Rc8500afbf31847c6" /><Relationship Type="http://schemas.openxmlformats.org/officeDocument/2006/relationships/slideLayout" Target="/ppt/slideLayouts/slideLayout6.xml" Id="R584b2d30684b4e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39fab843e4a9f"/>
    <p:sldLayoutId xmlns:r="http://schemas.openxmlformats.org/officeDocument/2006/relationships" id="2147483650" r:id="R0fdbb20212ff434a"/>
    <p:sldLayoutId xmlns:r="http://schemas.openxmlformats.org/officeDocument/2006/relationships" id="2147483651" r:id="Rc64fd72200204b4a"/>
    <p:sldLayoutId xmlns:r="http://schemas.openxmlformats.org/officeDocument/2006/relationships" id="2147483652" r:id="Rd107747d22dd4796"/>
    <p:sldLayoutId xmlns:r="http://schemas.openxmlformats.org/officeDocument/2006/relationships" id="2147483653" r:id="Rc8500afbf31847c6"/>
    <p:sldLayoutId xmlns:r="http://schemas.openxmlformats.org/officeDocument/2006/relationships" id="2147483654" r:id="R584b2d30684b4e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5438a8ba74156" /><Relationship Type="http://schemas.openxmlformats.org/officeDocument/2006/relationships/notesSlide" Target="/ppt/notesSlides/notesSlide1.xml" Id="R9589f15e4d9246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04c0f307d47c4" /><Relationship Type="http://schemas.openxmlformats.org/officeDocument/2006/relationships/notesSlide" Target="/ppt/notesSlides/notesSlide2.xml" Id="Ra4eb64d4ca3948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bd6779ac0479d" /><Relationship Type="http://schemas.openxmlformats.org/officeDocument/2006/relationships/notesSlide" Target="/ppt/notesSlides/notesSlide3.xml" Id="R667fc26987d949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c1e97c34e4f51" /><Relationship Type="http://schemas.openxmlformats.org/officeDocument/2006/relationships/image" Target="/ppt/media/image.png" Id="R5641537423bd44f7" /><Relationship Type="http://schemas.openxmlformats.org/officeDocument/2006/relationships/notesSlide" Target="/ppt/notesSlides/notesSlide4.xml" Id="Rfdcaf27c3cda4b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cb16fc9c44c81" /><Relationship Type="http://schemas.openxmlformats.org/officeDocument/2006/relationships/notesSlide" Target="/ppt/notesSlides/notesSlide5.xml" Id="R4644a3ca340041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9f4193e3f64a69" /><Relationship Type="http://schemas.openxmlformats.org/officeDocument/2006/relationships/notesSlide" Target="/ppt/notesSlides/notesSlide6.xml" Id="Rb4dde04093eb43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65722ffd246d5" /><Relationship Type="http://schemas.openxmlformats.org/officeDocument/2006/relationships/notesSlide" Target="/ppt/notesSlides/notesSlide7.xml" Id="Rfd1150d41993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4aeeafae241bf" /><Relationship Type="http://schemas.openxmlformats.org/officeDocument/2006/relationships/notesSlide" Target="/ppt/notesSlides/notesSlide8.xml" Id="R99730e52e0bb4d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ad7400a1a4e99" /><Relationship Type="http://schemas.openxmlformats.org/officeDocument/2006/relationships/notesSlide" Target="/ppt/notesSlides/notesSlide9.xml" Id="R41ceb589f0474c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ce395c16f4abc" /><Relationship Type="http://schemas.openxmlformats.org/officeDocument/2006/relationships/chart" Target="/ppt/slides/charts/chart1.xml" Id="R1bc22f7c0bfb4acc" /><Relationship Type="http://schemas.openxmlformats.org/officeDocument/2006/relationships/notesSlide" Target="/ppt/notesSlides/notesSlide10.xml" Id="Reab0371dae2a43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30a5b6c014a51" /><Relationship Type="http://schemas.openxmlformats.org/officeDocument/2006/relationships/notesSlide" Target="/ppt/notesSlides/notesSlide11.xml" Id="R87590f7bbdb14b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b470026744063" /><Relationship Type="http://schemas.openxmlformats.org/officeDocument/2006/relationships/notesSlide" Target="/ppt/notesSlides/notesSlide12.xml" Id="R5df172da46b84b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3bcafe4514855" /><Relationship Type="http://schemas.openxmlformats.org/officeDocument/2006/relationships/notesSlide" Target="/ppt/notesSlides/notesSlide13.xml" Id="R4bac5cb8ed6f48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8274b36b84762" /><Relationship Type="http://schemas.openxmlformats.org/officeDocument/2006/relationships/notesSlide" Target="/ppt/notesSlides/notesSlide14.xml" Id="R9b3b6451bd474a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dc53d869141ac" /><Relationship Type="http://schemas.openxmlformats.org/officeDocument/2006/relationships/notesSlide" Target="/ppt/notesSlides/notesSlide15.xml" Id="Re599eed47c2e42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55596cb934cd2" /><Relationship Type="http://schemas.openxmlformats.org/officeDocument/2006/relationships/notesSlide" Target="/ppt/notesSlides/notesSlide16.xml" Id="Rb3e72b8066744e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b4057b9b24786" /><Relationship Type="http://schemas.openxmlformats.org/officeDocument/2006/relationships/notesSlide" Target="/ppt/notesSlides/notesSlide17.xml" Id="R470bf937294d45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c9aa7fa0c41a2" /><Relationship Type="http://schemas.openxmlformats.org/officeDocument/2006/relationships/notesSlide" Target="/ppt/notesSlides/notesSlide18.xml" Id="R013a0d68b74d474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</c:v>
          </c:tx>
          <c:spPr>
            <a:solidFill xmlns:a="http://schemas.openxmlformats.org/drawingml/2006/main">
              <a:srgbClr val="155D9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B0</c:v>
                </c:pt>
                <c:pt idx="1">
                  <c:v>RCA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17.0278</c:v>
                </c:pt>
                <c:pt idx="1">
                  <c:v>11.6941</c:v>
                </c:pt>
              </c:numCache>
            </c:numRef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7CAFC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B0</c:v>
                </c:pt>
                <c:pt idx="1">
                  <c:v>RCA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20.4687</c:v>
                </c:pt>
                <c:pt idx="1">
                  <c:v>14.9192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45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5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推理耗时 / ms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6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面向多场景多目标的实时嵌入式健康监测系统">
            <a:extLst xmlns:a="http://schemas.openxmlformats.org/drawingml/2006/main">
              <a:ext uri="{FF2B5EF4-FFF2-40B4-BE49-F238E27FC236}">
                <a16:creationId xmlns:a16="http://schemas.microsoft.com/office/drawing/2014/main" id="{1E632E86-82D3-47C7-A717-152BF60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面向多场景多目标的实时嵌入式健康监测系统</a:t>
            </a:r>
          </a:p>
        </p:txBody>
      </p:sp>
      <p:sp>
        <p:nvSpPr>
          <p:cNvPr id="2" name="研究背景与目标">
            <a:extLst xmlns:a="http://schemas.openxmlformats.org/drawingml/2006/main">
              <a:ext uri="{FF2B5EF4-FFF2-40B4-BE49-F238E27FC236}">
                <a16:creationId xmlns:a16="http://schemas.microsoft.com/office/drawing/2014/main" id="{40F86DA2-0F99-453B-A335-91EDCBE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rPr>
              <a:t>研究背景与目标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1F5AB49-3F45-414F-BF3F-C7F197C9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B8C9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8C9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9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疗养院、老年公寓与社区">
            <a:extLst xmlns:a="http://schemas.openxmlformats.org/drawingml/2006/main">
              <a:ext uri="{FF2B5EF4-FFF2-40B4-BE49-F238E27FC236}">
                <a16:creationId xmlns:a16="http://schemas.microsoft.com/office/drawing/2014/main" id="{B1A0631E-0E12-4EF1-A5EA-6A2DCB1D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疗养院、老年公寓与社区</a:t>
            </a:r>
          </a:p>
        </p:txBody>
      </p:sp>
      <p:sp>
        <p:nvSpPr>
          <p:cNvPr id="5" name="同时监测多人动作状态，及时识别高危动作并预警">
            <a:extLst xmlns:a="http://schemas.openxmlformats.org/drawingml/2006/main">
              <a:ext uri="{FF2B5EF4-FFF2-40B4-BE49-F238E27FC236}">
                <a16:creationId xmlns:a16="http://schemas.microsoft.com/office/drawing/2014/main" id="{520421F6-BF08-40E5-96BD-CF9234E3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rPr>
              <a:t>同时监测多人动作状态，及时识别高危动作并预警</a:t>
            </a:r>
          </a:p>
        </p:txBody>
      </p:sp>
      <p:sp>
        <p:nvSpPr>
          <p:cNvPr id="6" name="重点检测动作">
            <a:extLst xmlns:a="http://schemas.openxmlformats.org/drawingml/2006/main">
              <a:ext uri="{FF2B5EF4-FFF2-40B4-BE49-F238E27FC236}">
                <a16:creationId xmlns:a16="http://schemas.microsoft.com/office/drawing/2014/main" id="{985F6943-5718-440D-A0F3-D024707B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rPr>
              <a:t>重点检测动作</a:t>
            </a:r>
          </a:p>
        </p:txBody>
      </p:sp>
      <p:sp>
        <p:nvSpPr>
          <p:cNvPr id="7" name="跌倒、踉跄失衡、捂胸&#10;恶心 / 呕吐、咳嗽 / 打喷嚏">
            <a:extLst xmlns:a="http://schemas.openxmlformats.org/drawingml/2006/main">
              <a:ext uri="{FF2B5EF4-FFF2-40B4-BE49-F238E27FC236}">
                <a16:creationId xmlns:a16="http://schemas.microsoft.com/office/drawing/2014/main" id="{1D8F3BB5-0EA1-45CE-886F-6EA4217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跌倒、踉跄失衡、捂胸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恶心 / 呕吐、咳嗽 / 打喷嚏</a:t>
            </a:r>
          </a:p>
        </p:txBody>
      </p:sp>
      <p:sp>
        <p:nvSpPr>
          <p:cNvPr id="8" name="现有瓶颈：推理延迟高，预警不及时&#10;计算开销大，多人监测部署成本高">
            <a:extLst xmlns:a="http://schemas.openxmlformats.org/drawingml/2006/main">
              <a:ext uri="{FF2B5EF4-FFF2-40B4-BE49-F238E27FC236}">
                <a16:creationId xmlns:a16="http://schemas.microsoft.com/office/drawing/2014/main" id="{845FF07E-2292-44DA-8A8D-1698E26E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rPr>
              <a:t>现有瓶颈：推理延迟高，预警不及时</a:t>
            </a:r>
          </a:p>
          <a:p xmlns:a="http://schemas.openxmlformats.org/drawingml/2006/main">
            <a:pPr>
              <a:defRPr sz="18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3EC"/>
                </a:solidFill>
                <a:latin typeface="Microsoft YaHei"/>
                <a:ea typeface="Microsoft YaHei"/>
                <a:cs typeface="Microsoft YaHei"/>
              </a:rPr>
              <a:t>计算开销大，多人监测部署成本高</a:t>
            </a:r>
          </a:p>
        </p:txBody>
      </p:sp>
      <p:sp>
        <p:nvSpPr>
          <p:cNvPr id="9" name="20 人">
            <a:extLst xmlns:a="http://schemas.openxmlformats.org/drawingml/2006/main">
              <a:ext uri="{FF2B5EF4-FFF2-40B4-BE49-F238E27FC236}">
                <a16:creationId xmlns:a16="http://schemas.microsoft.com/office/drawing/2014/main" id="{38D29C6E-11DB-476A-A9F6-3DBC170E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24050"/>
            <a:ext cx="352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5700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rPr>
              <a:t>20 人</a:t>
            </a:r>
          </a:p>
        </p:txBody>
      </p:sp>
      <p:sp>
        <p:nvSpPr>
          <p:cNvPr id="10" name="目标并发规模">
            <a:extLst xmlns:a="http://schemas.openxmlformats.org/drawingml/2006/main">
              <a:ext uri="{FF2B5EF4-FFF2-40B4-BE49-F238E27FC236}">
                <a16:creationId xmlns:a16="http://schemas.microsoft.com/office/drawing/2014/main" id="{FB9D896F-35E3-48FA-8C69-2B325A9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860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目标并发规模</a:t>
            </a:r>
          </a:p>
        </p:txBody>
      </p:sp>
      <p:sp>
        <p:nvSpPr>
          <p:cNvPr id="11" name="≤100 ms">
            <a:extLst xmlns:a="http://schemas.openxmlformats.org/drawingml/2006/main">
              <a:ext uri="{FF2B5EF4-FFF2-40B4-BE49-F238E27FC236}">
                <a16:creationId xmlns:a16="http://schemas.microsoft.com/office/drawing/2014/main" id="{11B97FE7-F2B3-42B0-A589-ACB68DE7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004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8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68D7D0"/>
                </a:solidFill>
                <a:latin typeface="Microsoft YaHei"/>
                <a:ea typeface="Microsoft YaHei"/>
                <a:cs typeface="Microsoft YaHei"/>
              </a:rPr>
              <a:t>≤100 ms</a:t>
            </a:r>
          </a:p>
        </p:txBody>
      </p:sp>
      <p:sp>
        <p:nvSpPr>
          <p:cNvPr id="12" name="目标分类推理耗时">
            <a:extLst xmlns:a="http://schemas.openxmlformats.org/drawingml/2006/main">
              <a:ext uri="{FF2B5EF4-FFF2-40B4-BE49-F238E27FC236}">
                <a16:creationId xmlns:a16="http://schemas.microsoft.com/office/drawing/2014/main" id="{311BA703-8493-4C7E-BF5E-1579A221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434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目标分类推理耗时</a:t>
            </a:r>
          </a:p>
        </p:txBody>
      </p:sp>
      <p:sp>
        <p:nvSpPr>
          <p:cNvPr id="13" name="2 TOPS 设备：现状估计 batch=5 时超过 100 m">
            <a:extLst xmlns:a="http://schemas.openxmlformats.org/drawingml/2006/main">
              <a:ext uri="{FF2B5EF4-FFF2-40B4-BE49-F238E27FC236}">
                <a16:creationId xmlns:a16="http://schemas.microsoft.com/office/drawing/2014/main" id="{7149B3C9-DED0-41BC-804B-B2FFE8B7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rPr>
              <a:t>2 TOPS 设备：现状估计 batch=5 时超过 100 ms，目标 batch=20 时维持 100 ms。</a:t>
            </a:r>
          </a:p>
          <a:p xmlns:a="http://schemas.openxmlformats.org/drawingml/2006/main">
            <a:pPr>
              <a:defRPr sz="14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D8E5"/>
                </a:solidFill>
                <a:latin typeface="Microsoft YaHei"/>
                <a:ea typeface="Microsoft YaHei"/>
                <a:cs typeface="Microsoft YaHei"/>
              </a:rPr>
              <a:t>上述为项目估计与目标，尚未完成端侧实测。完整预警时延还需计入骨架提取与排队。</a:t>
            </a:r>
          </a:p>
        </p:txBody>
      </p:sp>
    </p:spTree>
    <p:extLst>
      <p:ext uri="{BB962C8B-B14F-4D97-AF65-F5344CB8AC3E}">
        <p14:creationId xmlns:p14="http://schemas.microsoft.com/office/powerpoint/2010/main" val="1540632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论文整体结构与当前进度">
            <a:extLst xmlns:a="http://schemas.openxmlformats.org/drawingml/2006/main">
              <a:ext uri="{FF2B5EF4-FFF2-40B4-BE49-F238E27FC236}">
                <a16:creationId xmlns:a16="http://schemas.microsoft.com/office/drawing/2014/main" id="{887C9211-F44F-47F2-92E7-5BE05DD1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论文整体结构与当前进度</a:t>
            </a:r>
          </a:p>
        </p:txBody>
      </p:sp>
      <p:sp>
        <p:nvSpPr>
          <p:cNvPr id="2" name="当前重点为第2章，其他章节按已有基础与待完成工作列示">
            <a:extLst xmlns:a="http://schemas.openxmlformats.org/drawingml/2006/main">
              <a:ext uri="{FF2B5EF4-FFF2-40B4-BE49-F238E27FC236}">
                <a16:creationId xmlns:a16="http://schemas.microsoft.com/office/drawing/2014/main" id="{216A189D-7740-4D7F-81F6-7DDD89C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当前重点为第2章，其他章节按已有基础与待完成工作列示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4E71CB9C-D660-456E-9D3C-FABE9BA8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86E03-97E9-4B5C-AE52-A8797652AA63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524375"/>
                <a:gridCol w="3733800"/>
              </a:tblGrid>
              <a:tr h="6540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当前进度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第1章  绪论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研究目的与意义、研究现状、章节安排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背景与大纲已梳理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第2章  Skate-RCA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算法总览、模块设计、效果与消融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模块与主对照已完成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LocalT3 待训练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第3章  意图控制的早期识别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prefix_multi 基线、意图控制、蒸馏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基线与意图实验已有结果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蒸馏待验证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第4章  Skate-RCA 算子优化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算子总览、性能分析、优化实现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Beam search 优化经验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RCA 算子优化待开展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第5章  高实时性视觉识别系统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骨架模型优化、剪枝量化、端侧部署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已有骨架裁剪实验基础</a:t>
                      </a:r>
                    </a:p>
                    <a:p>
                      <a:pPr algn="ctr"/>
                      <a:r>
                        <a:rPr sz="172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系统集成与端侧验证待完成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进度依据当前项目记录与提供的工作材料。实验完成状态不等同于论文章">
            <a:extLst xmlns:a="http://schemas.openxmlformats.org/drawingml/2006/main">
              <a:ext uri="{FF2B5EF4-FFF2-40B4-BE49-F238E27FC236}">
                <a16:creationId xmlns:a16="http://schemas.microsoft.com/office/drawing/2014/main" id="{A9CB1C91-D7CE-4429-9C40-ACD6AC3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进度依据当前项目记录与提供的工作材料。实验完成状态不等同于论文章节撰写完成。</a:t>
            </a:r>
          </a:p>
        </p:txBody>
      </p:sp>
    </p:spTree>
    <p:extLst>
      <p:ext uri="{BB962C8B-B14F-4D97-AF65-F5344CB8AC3E}">
        <p14:creationId xmlns:p14="http://schemas.microsoft.com/office/powerpoint/2010/main" val="642159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8A238F-4C9D-4B07-BA16-B7AC1B337E59}"/>
              </a:ext>
            </a:extLst>
          </p:cNvPr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9324975" y="42767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B5C63A-752C-4551-8F74-4FE3DE90C45E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9324975" y="3514725"/>
            <a:ext cx="1504950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314420-5D63-4F4A-BC5D-D3DA8983714B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9124950" y="2600325"/>
            <a:ext cx="1704975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DFF99E-1F43-4784-837D-33B7C7042573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029700" y="3514725"/>
            <a:ext cx="295275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0D8DF9-E508-451E-9DA5-D3F36CFA2A1E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9029700" y="2600325"/>
            <a:ext cx="9525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702D97-EA69-4EBB-940A-A03EEC9509A9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7229475" y="3514725"/>
            <a:ext cx="2095500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CB5142-D11D-4F18-B342-5190AED859AC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7229475" y="2600325"/>
            <a:ext cx="1895475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98095-6B70-4D47-97DB-B3D0E3CAAADF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200400" y="42767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2D00B-5F68-4B3D-95EF-3DBC070F8830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3200400" y="3514725"/>
            <a:ext cx="2247900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02ADD-90FC-47AD-AF40-7DEEA331EA2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00400" y="2600325"/>
            <a:ext cx="224790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F84DC-6752-48CC-A6C9-246C57B6C5A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3200400" y="3514725"/>
            <a:ext cx="1362075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037FF-B137-4107-B2F4-6740FB25BFB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00400" y="2600325"/>
            <a:ext cx="1362075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49980-1F4F-4B80-A480-08CC5882EAF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3200400" y="3514725"/>
            <a:ext cx="476250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98A2B-D892-4456-AFEE-8E9D2EDC1B3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200400" y="2600325"/>
            <a:ext cx="47625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44001-87F9-418E-8E88-46FDC9A8946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790825" y="3514725"/>
            <a:ext cx="409575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F3723-9065-4597-9112-FB18CDFBAAB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790825" y="2600325"/>
            <a:ext cx="409575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DDB9B-C36C-425F-9779-3E1591DB7672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905000" y="3514725"/>
            <a:ext cx="1295400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42437-BBA4-45E9-8D5C-21BA4111C04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905000" y="2600325"/>
            <a:ext cx="1295400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6435E-234B-4721-A68D-2719EFFE789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19175" y="3514725"/>
            <a:ext cx="2181225" cy="3524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E53F8-C3E5-417E-AD78-AD701AF727BA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019175" y="2600325"/>
            <a:ext cx="2181225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B91A4"/>
            </a:solidFill>
            <a:tailEnd type="arrow" w="sm" len="sm"/>
          </a:ln>
        </p:spPr>
      </p:cxnSp>
      <p:sp>
        <p:nvSpPr>
          <p:cNvPr id="45" name="算法进展：SkateFormer 与 RCA 结构对比">
            <a:extLst xmlns:a="http://schemas.openxmlformats.org/drawingml/2006/main">
              <a:ext uri="{FF2B5EF4-FFF2-40B4-BE49-F238E27FC236}">
                <a16:creationId xmlns:a16="http://schemas.microsoft.com/office/drawing/2014/main" id="{A657547F-3984-4873-A3DB-08094D3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算法进展：SkateFormer 与 RCA 结构对比</a:t>
            </a:r>
          </a:p>
        </p:txBody>
      </p:sp>
      <p:sp>
        <p:nvSpPr>
          <p:cNvPr id="2" name="对比单个核心 Block；整网主对照保持相同 FFN 比例">
            <a:extLst xmlns:a="http://schemas.openxmlformats.org/drawingml/2006/main">
              <a:ext uri="{FF2B5EF4-FFF2-40B4-BE49-F238E27FC236}">
                <a16:creationId xmlns:a16="http://schemas.microsoft.com/office/drawing/2014/main" id="{E879FF73-8122-46BB-8A12-E3777028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对比单个核心 Block；整网主对照保持相同 FFN 比例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743B987-89E8-4B25-92FA-4E185B8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SkateFormer：六路并行聚合">
            <a:extLst xmlns:a="http://schemas.openxmlformats.org/drawingml/2006/main">
              <a:ext uri="{FF2B5EF4-FFF2-40B4-BE49-F238E27FC236}">
                <a16:creationId xmlns:a16="http://schemas.microsoft.com/office/drawing/2014/main" id="{84FA6198-A50E-472B-A23C-F49C1EED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SkateFormer：六路并行聚合</a:t>
            </a:r>
          </a:p>
        </p:txBody>
      </p:sp>
      <p:sp>
        <p:nvSpPr>
          <p:cNvPr id="5" name="Skate-RCA：时空关系组合">
            <a:extLst xmlns:a="http://schemas.openxmlformats.org/drawingml/2006/main">
              <a:ext uri="{FF2B5EF4-FFF2-40B4-BE49-F238E27FC236}">
                <a16:creationId xmlns:a16="http://schemas.microsoft.com/office/drawing/2014/main" id="{5576EA41-A076-42AF-A8F9-F5F3B1C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478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Skate-RCA：时空关系组合</a:t>
            </a:r>
          </a:p>
        </p:txBody>
      </p:sp>
      <p:sp>
        <p:nvSpPr>
          <p:cNvPr id="6" name="输入 X · LN · Linear">
            <a:extLst xmlns:a="http://schemas.openxmlformats.org/drawingml/2006/main">
              <a:ext uri="{FF2B5EF4-FFF2-40B4-BE49-F238E27FC236}">
                <a16:creationId xmlns:a16="http://schemas.microsoft.com/office/drawing/2014/main" id="{154BB3FD-28C0-4580-A736-803CC8F4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90750"/>
            <a:ext cx="304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输入 X · LN · Linear</a:t>
            </a:r>
          </a:p>
        </p:txBody>
      </p:sp>
      <p:sp>
        <p:nvSpPr>
          <p:cNvPr id="7" name="G-Conv">
            <a:extLst xmlns:a="http://schemas.openxmlformats.org/drawingml/2006/main">
              <a:ext uri="{FF2B5EF4-FFF2-40B4-BE49-F238E27FC236}">
                <a16:creationId xmlns:a16="http://schemas.microsoft.com/office/drawing/2014/main" id="{AC4F4559-CA87-465F-9068-C4CEA3D2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819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G-Conv</a:t>
            </a:r>
          </a:p>
        </p:txBody>
      </p:sp>
      <p:sp>
        <p:nvSpPr>
          <p:cNvPr id="8" name="T-Conv">
            <a:extLst xmlns:a="http://schemas.openxmlformats.org/drawingml/2006/main">
              <a:ext uri="{FF2B5EF4-FFF2-40B4-BE49-F238E27FC236}">
                <a16:creationId xmlns:a16="http://schemas.microsoft.com/office/drawing/2014/main" id="{AF599653-602E-44C4-821C-5EFA2826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24175"/>
            <a:ext cx="819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T-Conv</a:t>
            </a:r>
          </a:p>
        </p:txBody>
      </p:sp>
      <p:sp>
        <p:nvSpPr>
          <p:cNvPr id="9" name="Attn&#10;Type 1">
            <a:extLst xmlns:a="http://schemas.openxmlformats.org/drawingml/2006/main">
              <a:ext uri="{FF2B5EF4-FFF2-40B4-BE49-F238E27FC236}">
                <a16:creationId xmlns:a16="http://schemas.microsoft.com/office/drawing/2014/main" id="{3D3122A4-7407-4716-9083-33053223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24175"/>
            <a:ext cx="819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Attn</a:t>
            </a:r>
          </a:p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Type 1</a:t>
            </a:r>
          </a:p>
        </p:txBody>
      </p:sp>
      <p:sp>
        <p:nvSpPr>
          <p:cNvPr id="10" name="Attn&#10;Type 2">
            <a:extLst xmlns:a="http://schemas.openxmlformats.org/drawingml/2006/main">
              <a:ext uri="{FF2B5EF4-FFF2-40B4-BE49-F238E27FC236}">
                <a16:creationId xmlns:a16="http://schemas.microsoft.com/office/drawing/2014/main" id="{1763521D-76AC-4205-B5BA-31AB4612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24175"/>
            <a:ext cx="819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Attn</a:t>
            </a:r>
          </a:p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Type 2</a:t>
            </a:r>
          </a:p>
        </p:txBody>
      </p:sp>
      <p:sp>
        <p:nvSpPr>
          <p:cNvPr id="11" name="Attn&#10;Type 3">
            <a:extLst xmlns:a="http://schemas.openxmlformats.org/drawingml/2006/main">
              <a:ext uri="{FF2B5EF4-FFF2-40B4-BE49-F238E27FC236}">
                <a16:creationId xmlns:a16="http://schemas.microsoft.com/office/drawing/2014/main" id="{BBD057C0-69FE-48FA-8650-965229C3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24175"/>
            <a:ext cx="819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Attn</a:t>
            </a:r>
          </a:p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Type 3</a:t>
            </a:r>
          </a:p>
        </p:txBody>
      </p:sp>
      <p:sp>
        <p:nvSpPr>
          <p:cNvPr id="12" name="Attn&#10;Type 4">
            <a:extLst xmlns:a="http://schemas.openxmlformats.org/drawingml/2006/main">
              <a:ext uri="{FF2B5EF4-FFF2-40B4-BE49-F238E27FC236}">
                <a16:creationId xmlns:a16="http://schemas.microsoft.com/office/drawing/2014/main" id="{579163CB-9B84-4F84-86BA-67C6AAC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924175"/>
            <a:ext cx="819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Attn</a:t>
            </a:r>
          </a:p>
          <a:p xmlns:a="http://schemas.openxmlformats.org/drawingml/2006/main">
            <a:pPr algn="ctr">
              <a:def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Type 4</a:t>
            </a:r>
          </a:p>
        </p:txBody>
      </p:sp>
      <p:sp>
        <p:nvSpPr>
          <p:cNvPr id="13" name="Concat + 输出投影 + 残差">
            <a:extLst xmlns:a="http://schemas.openxmlformats.org/drawingml/2006/main">
              <a:ext uri="{FF2B5EF4-FFF2-40B4-BE49-F238E27FC236}">
                <a16:creationId xmlns:a16="http://schemas.microsoft.com/office/drawing/2014/main" id="{63F44705-5AEC-4809-9DB0-CD56A607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867150"/>
            <a:ext cx="3562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Concat + 输出投影 + 残差</a:t>
            </a:r>
          </a:p>
        </p:txBody>
      </p:sp>
      <p:sp>
        <p:nvSpPr>
          <p:cNvPr id="14" name="LN + FFN + 残差">
            <a:extLst xmlns:a="http://schemas.openxmlformats.org/drawingml/2006/main">
              <a:ext uri="{FF2B5EF4-FFF2-40B4-BE49-F238E27FC236}">
                <a16:creationId xmlns:a16="http://schemas.microsoft.com/office/drawing/2014/main" id="{A3BEE399-9B73-45F8-808F-AB63114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3048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1430">
            <a:solidFill>
              <a:srgbClr val="9FB5C8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LN + FFN + 残差</a:t>
            </a:r>
          </a:p>
        </p:txBody>
      </p:sp>
      <p:sp>
        <p:nvSpPr>
          <p:cNvPr id="28" name="输入 X · LayerNorm">
            <a:extLst xmlns:a="http://schemas.openxmlformats.org/drawingml/2006/main">
              <a:ext uri="{FF2B5EF4-FFF2-40B4-BE49-F238E27FC236}">
                <a16:creationId xmlns:a16="http://schemas.microsoft.com/office/drawing/2014/main" id="{D79020F3-FABB-4B33-8ECD-EFF80B42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2476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11430">
            <a:solidFill>
              <a:srgbClr val="57AAA5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输入 X · LayerNorm</a:t>
            </a:r>
          </a:p>
        </p:txBody>
      </p:sp>
      <p:sp>
        <p:nvSpPr>
          <p:cNvPr id="29" name="空间关系 Aₛ">
            <a:extLst xmlns:a="http://schemas.openxmlformats.org/drawingml/2006/main">
              <a:ext uri="{FF2B5EF4-FFF2-40B4-BE49-F238E27FC236}">
                <a16:creationId xmlns:a16="http://schemas.microsoft.com/office/drawing/2014/main" id="{48B96EC6-6037-4872-A02B-41B1B80C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924175"/>
            <a:ext cx="156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11430">
            <a:solidFill>
              <a:srgbClr val="57AAA5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空间关系 Aₛ</a:t>
            </a:r>
          </a:p>
        </p:txBody>
      </p:sp>
      <p:sp>
        <p:nvSpPr>
          <p:cNvPr id="30" name="共享 Value">
            <a:extLst xmlns:a="http://schemas.openxmlformats.org/drawingml/2006/main">
              <a:ext uri="{FF2B5EF4-FFF2-40B4-BE49-F238E27FC236}">
                <a16:creationId xmlns:a16="http://schemas.microsoft.com/office/drawing/2014/main" id="{6672024A-2633-4964-A682-ED7FF1E2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156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11430">
            <a:solidFill>
              <a:srgbClr val="57AAA5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共享 Value</a:t>
            </a:r>
          </a:p>
        </p:txBody>
      </p:sp>
      <p:sp>
        <p:nvSpPr>
          <p:cNvPr id="31" name="时间关系 Aₜ">
            <a:extLst xmlns:a="http://schemas.openxmlformats.org/drawingml/2006/main">
              <a:ext uri="{FF2B5EF4-FFF2-40B4-BE49-F238E27FC236}">
                <a16:creationId xmlns:a16="http://schemas.microsoft.com/office/drawing/2014/main" id="{D49A5FC5-3CBB-48EC-ADA6-F9CFCDB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24175"/>
            <a:ext cx="1562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11430">
            <a:solidFill>
              <a:srgbClr val="57AAA5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时间关系 Aₜ</a:t>
            </a:r>
          </a:p>
        </p:txBody>
      </p:sp>
      <p:sp>
        <p:nvSpPr>
          <p:cNvPr id="32" name="空间聚合 · 锚点池化 · 时间聚合">
            <a:extLst xmlns:a="http://schemas.openxmlformats.org/drawingml/2006/main">
              <a:ext uri="{FF2B5EF4-FFF2-40B4-BE49-F238E27FC236}">
                <a16:creationId xmlns:a16="http://schemas.microsoft.com/office/drawing/2014/main" id="{ECAB1A03-56CB-4DB7-A996-ACD77B3C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4552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11430">
            <a:solidFill>
              <a:srgbClr val="57AAA5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空间聚合 · 锚点池化 · 时间聚合</a:t>
            </a:r>
          </a:p>
        </p:txBody>
      </p:sp>
      <p:sp>
        <p:nvSpPr>
          <p:cNvPr id="33" name="门控合并 · 投影/残差 · FFN/残差">
            <a:extLst xmlns:a="http://schemas.openxmlformats.org/drawingml/2006/main">
              <a:ext uri="{FF2B5EF4-FFF2-40B4-BE49-F238E27FC236}">
                <a16:creationId xmlns:a16="http://schemas.microsoft.com/office/drawing/2014/main" id="{EACD8144-5D1B-4C82-B7C7-02F222C4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4552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1"/>
          </a:solidFill>
          <a:ln xmlns:a="http://schemas.openxmlformats.org/drawingml/2006/main" w="11430">
            <a:solidFill>
              <a:srgbClr val="57AAA5"/>
            </a:solidFill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>
            <a:def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门控合并 · 投影/残差 · FFN/残差</a:t>
            </a:r>
          </a:p>
        </p:txBody>
      </p:sp>
      <p:sp>
        <p:nvSpPr>
          <p:cNvPr id="41" name="分支独立聚合，再拼接交换信息">
            <a:extLst xmlns:a="http://schemas.openxmlformats.org/drawingml/2006/main">
              <a:ext uri="{FF2B5EF4-FFF2-40B4-BE49-F238E27FC236}">
                <a16:creationId xmlns:a16="http://schemas.microsoft.com/office/drawing/2014/main" id="{9AE6C969-C4C8-457C-943F-FDCBEEF6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分支独立聚合，再拼接交换信息</a:t>
            </a:r>
          </a:p>
        </p:txBody>
      </p:sp>
      <p:sp>
        <p:nvSpPr>
          <p:cNvPr id="42" name="共享投影，以紧凑时空算子进行组合">
            <a:extLst xmlns:a="http://schemas.openxmlformats.org/drawingml/2006/main">
              <a:ext uri="{FF2B5EF4-FFF2-40B4-BE49-F238E27FC236}">
                <a16:creationId xmlns:a16="http://schemas.microsoft.com/office/drawing/2014/main" id="{EB819B2B-2E84-41D4-AA49-106C7DCD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共享投影，以紧凑时空算子进行组合</a:t>
            </a:r>
          </a:p>
        </p:txBody>
      </p:sp>
      <p:sp>
        <p:nvSpPr>
          <p:cNvPr id="43" name="整网延迟下降 31.32%     RCA Top-1 88.6">
            <a:extLst xmlns:a="http://schemas.openxmlformats.org/drawingml/2006/main">
              <a:ext uri="{FF2B5EF4-FFF2-40B4-BE49-F238E27FC236}">
                <a16:creationId xmlns:a16="http://schemas.microsoft.com/office/drawing/2014/main" id="{30A21E20-4EE1-4729-88AB-0177AC23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整网延迟下降 31.32%     RCA Top-1 88.6092%     LocalT3 已测速、待训练</a:t>
            </a:r>
          </a:p>
        </p:txBody>
      </p:sp>
      <p:sp>
        <p:nvSpPr>
          <p:cNvPr id="44" name="速度为 10 月 12 日随机权重结构测速；精度为 dropou">
            <a:extLst xmlns:a="http://schemas.openxmlformats.org/drawingml/2006/main">
              <a:ext uri="{FF2B5EF4-FFF2-40B4-BE49-F238E27FC236}">
                <a16:creationId xmlns:a16="http://schemas.microsoft.com/office/drawing/2014/main" id="{41A832AC-5C9B-44FE-B9DC-276813D9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速度为 10 月 12 日随机权重结构测速；精度为 dropout=0.1 的训练日志，两者尚未完成最佳权重联合验证。</a:t>
            </a:r>
          </a:p>
        </p:txBody>
      </p:sp>
    </p:spTree>
    <p:extLst>
      <p:ext uri="{BB962C8B-B14F-4D97-AF65-F5344CB8AC3E}">
        <p14:creationId xmlns:p14="http://schemas.microsoft.com/office/powerpoint/2010/main" val="657909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kateFormer 的六路特征处理">
            <a:extLst xmlns:a="http://schemas.openxmlformats.org/drawingml/2006/main">
              <a:ext uri="{FF2B5EF4-FFF2-40B4-BE49-F238E27FC236}">
                <a16:creationId xmlns:a16="http://schemas.microsoft.com/office/drawing/2014/main" id="{24BF1CC5-BB0F-4606-B421-5B10A32E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SkateFormer 的六路特征处理</a:t>
            </a:r>
          </a:p>
        </p:txBody>
      </p:sp>
      <p:sp>
        <p:nvSpPr>
          <p:cNvPr id="2" name="四类时空分区注意力与 G-Conv、T-Conv 并行计算">
            <a:extLst xmlns:a="http://schemas.openxmlformats.org/drawingml/2006/main">
              <a:ext uri="{FF2B5EF4-FFF2-40B4-BE49-F238E27FC236}">
                <a16:creationId xmlns:a16="http://schemas.microsoft.com/office/drawing/2014/main" id="{11A25D6D-C771-44F3-9132-CCA001B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四类时空分区注意力与 G-Conv、T-Conv 并行计算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0DCD5671-A879-4D9B-B185-B378EC75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0ABEF-F5E3-47FD-8879-93D5B42F6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1537423bd44f7"/>
          <a:stretch xmlns:a="http://schemas.openxmlformats.org/drawingml/2006/main"/>
        </p:blipFill>
        <p:spPr>
          <a:xfrm xmlns:a="http://schemas.openxmlformats.org/drawingml/2006/main">
            <a:off x="1908483" y="1762125"/>
            <a:ext cx="8375034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各分支先独立聚合，再通过拼接与投影交互。低关节数、小 batch">
            <a:extLst xmlns:a="http://schemas.openxmlformats.org/drawingml/2006/main">
              <a:ext uri="{FF2B5EF4-FFF2-40B4-BE49-F238E27FC236}">
                <a16:creationId xmlns:a16="http://schemas.microsoft.com/office/drawing/2014/main" id="{C740C9D3-A843-4CDA-81F5-3D38B773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各分支先独立聚合，再通过拼接与投影交互。低关节数、小 batch 下的执行效率是当前优化重点。</a:t>
            </a:r>
          </a:p>
        </p:txBody>
      </p:sp>
    </p:spTree>
    <p:extLst>
      <p:ext uri="{BB962C8B-B14F-4D97-AF65-F5344CB8AC3E}">
        <p14:creationId xmlns:p14="http://schemas.microsoft.com/office/powerpoint/2010/main" val="1884350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计算量占比与实际耗时并不一致">
            <a:extLst xmlns:a="http://schemas.openxmlformats.org/drawingml/2006/main">
              <a:ext uri="{FF2B5EF4-FFF2-40B4-BE49-F238E27FC236}">
                <a16:creationId xmlns:a16="http://schemas.microsoft.com/office/drawing/2014/main" id="{D05B3C40-DDBD-4F2A-B327-319A2429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计算量占比与实际耗时并不一致</a:t>
            </a:r>
          </a:p>
        </p:txBody>
      </p:sp>
      <p:sp>
        <p:nvSpPr>
          <p:cNvPr id="2" name="已有单块分析提示：低计算量分支仍可能成为主要延迟来源">
            <a:extLst xmlns:a="http://schemas.openxmlformats.org/drawingml/2006/main">
              <a:ext uri="{FF2B5EF4-FFF2-40B4-BE49-F238E27FC236}">
                <a16:creationId xmlns:a16="http://schemas.microsoft.com/office/drawing/2014/main" id="{64993EF3-47F0-4848-991D-0915C41A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已有单块分析提示：低计算量分支仍可能成为主要延迟来源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912FF0DF-C8BB-47F9-940A-B274A254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7C341-B6FA-4821-A076-9B146C1899E9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1714500"/>
                <a:gridCol w="5781675"/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 占比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当前实现的关注点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大矩阵乘法，GPU 执行效率较高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mapping + projection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26.42%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通道投影与数据布局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四路 attention 的 QK / AV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小矩阵、分区与还原开销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 Conv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小通道分组卷积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Graph Conv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分组小 einsum 与拼接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优化重点：减少细碎算子与数据重排，保留有效通道建模能力">
            <a:extLst xmlns:a="http://schemas.openxmlformats.org/drawingml/2006/main">
              <a:ext uri="{FF2B5EF4-FFF2-40B4-BE49-F238E27FC236}">
                <a16:creationId xmlns:a16="http://schemas.microsoft.com/office/drawing/2014/main" id="{959C4158-ADEC-4FB1-9F68-C48AD05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优化重点：减少细碎算子与数据重排，保留有效通道建模能力</a:t>
            </a:r>
          </a:p>
        </p:txBody>
      </p:sp>
      <p:sp>
        <p:nvSpPr>
          <p:cNvPr id="6" name="占比来自提供的旧单块分析，非本次新测；MAC 占比不能直接替代延">
            <a:extLst xmlns:a="http://schemas.openxmlformats.org/drawingml/2006/main">
              <a:ext uri="{FF2B5EF4-FFF2-40B4-BE49-F238E27FC236}">
                <a16:creationId xmlns:a16="http://schemas.microsoft.com/office/drawing/2014/main" id="{E1882AB1-BF74-46B3-A0D0-F327050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占比来自提供的旧单块分析，非本次新测；MAC 占比不能直接替代延迟占比或整网 FLOPs。</a:t>
            </a:r>
          </a:p>
        </p:txBody>
      </p:sp>
    </p:spTree>
    <p:extLst>
      <p:ext uri="{BB962C8B-B14F-4D97-AF65-F5344CB8AC3E}">
        <p14:creationId xmlns:p14="http://schemas.microsoft.com/office/powerpoint/2010/main" val="55581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kate-RCA 模块设计">
            <a:extLst xmlns:a="http://schemas.openxmlformats.org/drawingml/2006/main">
              <a:ext uri="{FF2B5EF4-FFF2-40B4-BE49-F238E27FC236}">
                <a16:creationId xmlns:a16="http://schemas.microsoft.com/office/drawing/2014/main" id="{D021DD67-A38B-4C28-8AD5-FA5EBD5F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Skate-RCA 模块设计</a:t>
            </a:r>
          </a:p>
        </p:txBody>
      </p:sp>
      <p:sp>
        <p:nvSpPr>
          <p:cNvPr id="2" name="共享 Value，在统一路径内组合空间关系与时间关系">
            <a:extLst xmlns:a="http://schemas.openxmlformats.org/drawingml/2006/main">
              <a:ext uri="{FF2B5EF4-FFF2-40B4-BE49-F238E27FC236}">
                <a16:creationId xmlns:a16="http://schemas.microsoft.com/office/drawing/2014/main" id="{D1AE2E42-ABC1-42C8-8721-D59C123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共享 Value，在统一路径内组合空间关系与时间关系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FE180F7-8BAB-46A9-B072-1C03839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12F77-D389-4D9A-B0C2-0A8CB47F70AB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572125"/>
                <a:gridCol w="3019425"/>
              </a:tblGrid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处理阶段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特征投影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LayerNorm + 共享 Value 投影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各关系分量共用投影入口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空间关系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时间均值聚合，生成 Aₛ [B,R,V,V]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学习动态关节关系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时间关系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关节均值聚合，生成 Aₜ [B,R,T,A]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 A 个锚点汇聚时间信息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关系组合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空间聚合 + 锚点池化 + 时间聚合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避免完整 TV × TV 注意力图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输出融合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分量门控、通道合并、投影、残差与 FFN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输入自适应融合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默认 R=2、A=16、qk_ratio=0.25。当前主对照显">
            <a:extLst xmlns:a="http://schemas.openxmlformats.org/drawingml/2006/main">
              <a:ext uri="{FF2B5EF4-FFF2-40B4-BE49-F238E27FC236}">
                <a16:creationId xmlns:a16="http://schemas.microsoft.com/office/drawing/2014/main" id="{57FE7A5B-6682-44AE-AF66-5A6C17A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默认 R=2、A=16、qk_ratio=0.25。当前主对照显式设置 FFN=4，与 B0 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168026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空间与时间关系的实现细节">
            <a:extLst xmlns:a="http://schemas.openxmlformats.org/drawingml/2006/main">
              <a:ext uri="{FF2B5EF4-FFF2-40B4-BE49-F238E27FC236}">
                <a16:creationId xmlns:a16="http://schemas.microsoft.com/office/drawing/2014/main" id="{B1D2D9FE-2124-4C70-B915-4C824C1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空间与时间关系的实现细节</a:t>
            </a:r>
          </a:p>
        </p:txBody>
      </p:sp>
      <p:sp>
        <p:nvSpPr>
          <p:cNvPr id="2" name="池化降低关系生成成本，锚点限制时间注意力规模">
            <a:extLst xmlns:a="http://schemas.openxmlformats.org/drawingml/2006/main">
              <a:ext uri="{FF2B5EF4-FFF2-40B4-BE49-F238E27FC236}">
                <a16:creationId xmlns:a16="http://schemas.microsoft.com/office/drawing/2014/main" id="{07D2FC5A-22E1-41C3-BF65-92F09D4F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池化降低关系生成成本，锚点限制时间注意力规模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4B2AEB0F-264D-4140-A06B-EB5543C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空间关系">
            <a:extLst xmlns:a="http://schemas.openxmlformats.org/drawingml/2006/main">
              <a:ext uri="{FF2B5EF4-FFF2-40B4-BE49-F238E27FC236}">
                <a16:creationId xmlns:a16="http://schemas.microsoft.com/office/drawing/2014/main" id="{60183EF8-23AD-4BD7-823E-8723D894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空间关系</a:t>
            </a:r>
          </a:p>
        </p:txBody>
      </p:sp>
      <p:sp>
        <p:nvSpPr>
          <p:cNvPr id="5" name="Xₛ = Meanₜ(X)&#10;Aₛ = Softmax(QₛKₛᵀ">
            <a:extLst xmlns:a="http://schemas.openxmlformats.org/drawingml/2006/main">
              <a:ext uri="{FF2B5EF4-FFF2-40B4-BE49-F238E27FC236}">
                <a16:creationId xmlns:a16="http://schemas.microsoft.com/office/drawing/2014/main" id="{9B8C9AC6-12BD-48A4-BBED-AB0B0074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257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Xₛ = Meanₜ(X)</a:t>
            </a:r>
          </a:p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Aₛ = Softmax(QₛKₛᵀ / √d + sG)</a:t>
            </a:r>
          </a:p>
        </p:txBody>
      </p:sp>
      <p:sp>
        <p:nvSpPr>
          <p:cNvPr id="6" name="每个关系分量使用 V × V 关系图&#10;G 初始化为 0.5I 加">
            <a:extLst xmlns:a="http://schemas.openxmlformats.org/drawingml/2006/main">
              <a:ext uri="{FF2B5EF4-FFF2-40B4-BE49-F238E27FC236}">
                <a16:creationId xmlns:a16="http://schemas.microsoft.com/office/drawing/2014/main" id="{5EB28FE6-87F0-4849-AE79-ED4E915F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1911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每个关系分量使用 V × V 关系图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G 初始化为 0.5I 加随机扰动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当前并未注入真实人体邻接拓扑</a:t>
            </a:r>
          </a:p>
        </p:txBody>
      </p:sp>
      <p:sp>
        <p:nvSpPr>
          <p:cNvPr id="7" name="时间关系">
            <a:extLst xmlns:a="http://schemas.openxmlformats.org/drawingml/2006/main">
              <a:ext uri="{FF2B5EF4-FFF2-40B4-BE49-F238E27FC236}">
                <a16:creationId xmlns:a16="http://schemas.microsoft.com/office/drawing/2014/main" id="{13D6A6B8-953C-4261-BDB2-D30BCB11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时间关系</a:t>
            </a:r>
          </a:p>
        </p:txBody>
      </p:sp>
      <p:sp>
        <p:nvSpPr>
          <p:cNvPr id="8" name="Kₜ 来自 A 个池化锚点&#10;Aₜ = Softmax(QₜKₜᵀ">
            <a:extLst xmlns:a="http://schemas.openxmlformats.org/drawingml/2006/main">
              <a:ext uri="{FF2B5EF4-FFF2-40B4-BE49-F238E27FC236}">
                <a16:creationId xmlns:a16="http://schemas.microsoft.com/office/drawing/2014/main" id="{B45699C3-D7D2-4515-B897-E42C888A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5086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Kₜ 来自 A 个池化锚点</a:t>
            </a:r>
          </a:p>
          <a:p xmlns:a="http://schemas.openxmlformats.org/drawingml/2006/main">
            <a:pPr>
              <a:def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Aₜ = Softmax(QₜKₜᵀ / √d + sL)</a:t>
            </a:r>
          </a:p>
        </p:txBody>
      </p:sp>
      <p:sp>
        <p:nvSpPr>
          <p:cNvPr id="9" name="Aₜ 的大小为 T × A，默认 A=16&#10;L 为局部时间距离偏">
            <a:extLst xmlns:a="http://schemas.openxmlformats.org/drawingml/2006/main">
              <a:ext uri="{FF2B5EF4-FFF2-40B4-BE49-F238E27FC236}">
                <a16:creationId xmlns:a16="http://schemas.microsoft.com/office/drawing/2014/main" id="{8B895130-2AAF-4F21-B486-8EDCD181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50863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Aₜ 的大小为 T × A，默认 A=16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L 为局部时间距离偏置</a:t>
            </a:r>
          </a:p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当前未实现 RoPE 或显式多尺度拓扑</a:t>
            </a:r>
          </a:p>
        </p:txBody>
      </p:sp>
      <p:sp>
        <p:nvSpPr>
          <p:cNvPr id="10" name="关系组合：Zᵣ = Aₜ⁽ʳ⁾ Poolₐ(Vᵣ Aₛ⁽ʳ⁾ᵀ)">
            <a:extLst xmlns:a="http://schemas.openxmlformats.org/drawingml/2006/main">
              <a:ext uri="{FF2B5EF4-FFF2-40B4-BE49-F238E27FC236}">
                <a16:creationId xmlns:a16="http://schemas.microsoft.com/office/drawing/2014/main" id="{4F56DB10-61B7-4FB8-87EE-A9796A6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关系组合：Zᵣ = Aₜ⁽ʳ⁾ Poolₐ(Vᵣ Aₛ⁽ʳ⁾ᵀ)。门控缩放各通道组后合并，并进行输出投影。</a:t>
            </a:r>
          </a:p>
        </p:txBody>
      </p:sp>
    </p:spTree>
    <p:extLst>
      <p:ext uri="{BB962C8B-B14F-4D97-AF65-F5344CB8AC3E}">
        <p14:creationId xmlns:p14="http://schemas.microsoft.com/office/powerpoint/2010/main" val="1891774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早期单块测试">
            <a:extLst xmlns:a="http://schemas.openxmlformats.org/drawingml/2006/main">
              <a:ext uri="{FF2B5EF4-FFF2-40B4-BE49-F238E27FC236}">
                <a16:creationId xmlns:a16="http://schemas.microsoft.com/office/drawing/2014/main" id="{4934C297-9CA6-4654-9C72-9A95ECB7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早期单块测试</a:t>
            </a:r>
          </a:p>
        </p:txBody>
      </p:sp>
      <p:sp>
        <p:nvSpPr>
          <p:cNvPr id="2" name="模块原型显示延迟优势，但不能替代公平的整网对照">
            <a:extLst xmlns:a="http://schemas.openxmlformats.org/drawingml/2006/main">
              <a:ext uri="{FF2B5EF4-FFF2-40B4-BE49-F238E27FC236}">
                <a16:creationId xmlns:a16="http://schemas.microsoft.com/office/drawing/2014/main" id="{09894DD6-AD15-42C7-87DD-5419CF7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模块原型显示延迟优势，但不能替代公平的整网对照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9D29F055-DA9A-420B-AE20-7313E0A2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8562D-B569-455E-AE9F-D0A1D7006C45}"/>
              </a:ext>
            </a:extLst>
          </p:cNvPr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505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2095500"/>
                <a:gridCol w="2162175"/>
                <a:gridCol w="2857500"/>
              </a:tblGrid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耗时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相对该模块的延迟降低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SkateFormer Block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1.5912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417,440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25.87%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InfoGCN EncodingBlock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1.6513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201,180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28.57%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26269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Skate-RCA Block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1.1795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269,726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原型结果用于验证设计方向">
            <a:extLst xmlns:a="http://schemas.openxmlformats.org/drawingml/2006/main">
              <a:ext uri="{FF2B5EF4-FFF2-40B4-BE49-F238E27FC236}">
                <a16:creationId xmlns:a16="http://schemas.microsoft.com/office/drawing/2014/main" id="{69F35F13-56CE-4627-BB2A-29AB83EB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763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原型结果用于验证设计方向</a:t>
            </a:r>
          </a:p>
        </p:txBody>
      </p:sp>
      <p:sp>
        <p:nvSpPr>
          <p:cNvPr id="6" name="原型数据来自提供的材料。默认 RCA FFN 比例可能更小，需区">
            <a:extLst xmlns:a="http://schemas.openxmlformats.org/drawingml/2006/main">
              <a:ext uri="{FF2B5EF4-FFF2-40B4-BE49-F238E27FC236}">
                <a16:creationId xmlns:a16="http://schemas.microsoft.com/office/drawing/2014/main" id="{64158951-BBC5-43D4-B2B8-E058B3B9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原型数据来自提供的材料。默认 RCA FFN 比例可能更小，需区分结构变化与 FFN 缩减的影响。</a:t>
            </a:r>
          </a:p>
        </p:txBody>
      </p:sp>
    </p:spTree>
    <p:extLst>
      <p:ext uri="{BB962C8B-B14F-4D97-AF65-F5344CB8AC3E}">
        <p14:creationId xmlns:p14="http://schemas.microsoft.com/office/powerpoint/2010/main" val="1310344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近期训练结果：dropout 缩小精度差距">
            <a:extLst xmlns:a="http://schemas.openxmlformats.org/drawingml/2006/main">
              <a:ext uri="{FF2B5EF4-FFF2-40B4-BE49-F238E27FC236}">
                <a16:creationId xmlns:a16="http://schemas.microsoft.com/office/drawing/2014/main" id="{3CAEC8DF-101F-4CBB-A8E3-33BE6347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近期训练结果：dropout 缩小精度差距</a:t>
            </a:r>
          </a:p>
        </p:txBody>
      </p:sp>
      <p:sp>
        <p:nvSpPr>
          <p:cNvPr id="2" name="NTU60 XSub，14 关节、单人、64 帧，训练 batc">
            <a:extLst xmlns:a="http://schemas.openxmlformats.org/drawingml/2006/main">
              <a:ext uri="{FF2B5EF4-FFF2-40B4-BE49-F238E27FC236}">
                <a16:creationId xmlns:a16="http://schemas.microsoft.com/office/drawing/2014/main" id="{FF2F49D8-01A7-44AF-A4B9-ED324490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NTU60 XSub，14 关节、单人、64 帧，训练 batch=128，seed=1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CAD2A8FA-1FD7-4472-8B49-261FB0D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5B74C-669A-47DD-8289-63293A4FFC23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2286000"/>
                <a:gridCol w="2476500"/>
                <a:gridCol w="1685925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Best Top-1 / 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 B0 / 百分点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Best epoch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B0：SkateFormer，FFN=4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88.9307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M1：RCA，FFN=4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88.2695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−0.6611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RCA + attn_drop=0.1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88.6092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−0.3215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再将 anchors 设为 32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88.6153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−0.3154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dropout 带来约 0.34 个百分点恢复，RCA 仍未超过">
            <a:extLst xmlns:a="http://schemas.openxmlformats.org/drawingml/2006/main">
              <a:ext uri="{FF2B5EF4-FFF2-40B4-BE49-F238E27FC236}">
                <a16:creationId xmlns:a16="http://schemas.microsoft.com/office/drawing/2014/main" id="{9100CB03-2C0D-4629-96E3-804C6C02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dropout 带来约 0.34 个百分点恢复，RCA 仍未超过基线</a:t>
            </a:r>
          </a:p>
        </p:txBody>
      </p:sp>
      <p:sp>
        <p:nvSpPr>
          <p:cNvPr id="6" name="训练 500 epochs，base LR=0.001。结果来自">
            <a:extLst xmlns:a="http://schemas.openxmlformats.org/drawingml/2006/main">
              <a:ext uri="{FF2B5EF4-FFF2-40B4-BE49-F238E27FC236}">
                <a16:creationId xmlns:a16="http://schemas.microsoft.com/office/drawing/2014/main" id="{E4392341-E7FF-47B6-866E-524D941E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训练 500 epochs，base LR=0.001。结果来自用户日志，服务器配置与最佳 checkpoint 尚未独立复核。</a:t>
            </a:r>
          </a:p>
        </p:txBody>
      </p:sp>
    </p:spTree>
    <p:extLst>
      <p:ext uri="{BB962C8B-B14F-4D97-AF65-F5344CB8AC3E}">
        <p14:creationId xmlns:p14="http://schemas.microsoft.com/office/powerpoint/2010/main" val="1803106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整网结构测速：平均延迟下降 31.32%">
            <a:extLst xmlns:a="http://schemas.openxmlformats.org/drawingml/2006/main">
              <a:ext uri="{FF2B5EF4-FFF2-40B4-BE49-F238E27FC236}">
                <a16:creationId xmlns:a16="http://schemas.microsoft.com/office/drawing/2014/main" id="{1A115481-6556-430B-9D2E-4F73278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整网结构测速：平均延迟下降 31.32%</a:t>
            </a:r>
          </a:p>
        </p:txBody>
      </p:sp>
      <p:sp>
        <p:nvSpPr>
          <p:cNvPr id="2" name="2026-10-12 配对测试，RTX 4070 Laptop，">
            <a:extLst xmlns:a="http://schemas.openxmlformats.org/drawingml/2006/main">
              <a:ext uri="{FF2B5EF4-FFF2-40B4-BE49-F238E27FC236}">
                <a16:creationId xmlns:a16="http://schemas.microsoft.com/office/drawing/2014/main" id="{5B828DD4-741B-473D-B0CE-76CC3262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2026-10-12 配对测试，RTX 4070 Laptop，FP32，batch=1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CCF56D8F-07AF-467B-B992-177819BD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E124328-E0D7-4855-80E0-FB403A853A39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728662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c22f7c0bfb4acc"/>
          </a:graphicData>
        </a:graphic>
      </p:graphicFrame>
      <p:sp>
        <p:nvSpPr>
          <p:cNvPr id="5" name="1.456×">
            <a:extLst xmlns:a="http://schemas.openxmlformats.org/drawingml/2006/main">
              <a:ext uri="{FF2B5EF4-FFF2-40B4-BE49-F238E27FC236}">
                <a16:creationId xmlns:a16="http://schemas.microsoft.com/office/drawing/2014/main" id="{CFCE94BC-5D5B-48E8-B23E-6CDAF3EB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90725"/>
            <a:ext cx="300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0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1.456×</a:t>
            </a:r>
          </a:p>
        </p:txBody>
      </p:sp>
      <p:sp>
        <p:nvSpPr>
          <p:cNvPr id="6" name="平均延迟加速比">
            <a:extLst xmlns:a="http://schemas.openxmlformats.org/drawingml/2006/main">
              <a:ext uri="{FF2B5EF4-FFF2-40B4-BE49-F238E27FC236}">
                <a16:creationId xmlns:a16="http://schemas.microsoft.com/office/drawing/2014/main" id="{8B718812-9E52-449D-83D3-036D4147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19400"/>
            <a:ext cx="295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平均延迟加速比</a:t>
            </a:r>
          </a:p>
        </p:txBody>
      </p:sp>
      <p:sp>
        <p:nvSpPr>
          <p:cNvPr id="7" name="9.39%">
            <a:extLst xmlns:a="http://schemas.openxmlformats.org/drawingml/2006/main">
              <a:ext uri="{FF2B5EF4-FFF2-40B4-BE49-F238E27FC236}">
                <a16:creationId xmlns:a16="http://schemas.microsoft.com/office/drawing/2014/main" id="{313DEF99-7F2C-455D-9155-0D86E0DF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052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6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9.39%</a:t>
            </a:r>
          </a:p>
        </p:txBody>
      </p:sp>
      <p:sp>
        <p:nvSpPr>
          <p:cNvPr id="8" name="部分 FLOPs 计数下降&#10;1.9946 至 1.8072 G">
            <a:extLst xmlns:a="http://schemas.openxmlformats.org/drawingml/2006/main">
              <a:ext uri="{FF2B5EF4-FFF2-40B4-BE49-F238E27FC236}">
                <a16:creationId xmlns:a16="http://schemas.microsoft.com/office/drawing/2014/main" id="{D77A97FA-14EB-4949-AB27-6DEA12E6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672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部分 FLOPs 计数下降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1.9946 至 1.8072 G</a:t>
            </a:r>
          </a:p>
        </p:txBody>
      </p:sp>
      <p:sp>
        <p:nvSpPr>
          <p:cNvPr id="9" name="随机权重，GPU 驻留输入；5 轮 × 100 次同步墙钟计时。">
            <a:extLst xmlns:a="http://schemas.openxmlformats.org/drawingml/2006/main">
              <a:ext uri="{FF2B5EF4-FFF2-40B4-BE49-F238E27FC236}">
                <a16:creationId xmlns:a16="http://schemas.microsoft.com/office/drawing/2014/main" id="{C168CAA2-6FBC-4630-A4B5-C6AB8A80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随机权重，GPU 驻留输入；5 轮 × 100 次同步墙钟计时。不含骨架提取、数据加载或传输，非端侧结果。</a:t>
            </a:r>
          </a:p>
        </p:txBody>
      </p:sp>
    </p:spTree>
    <p:extLst>
      <p:ext uri="{BB962C8B-B14F-4D97-AF65-F5344CB8AC3E}">
        <p14:creationId xmlns:p14="http://schemas.microsoft.com/office/powerpoint/2010/main" val="1986880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间锚点消融：16 与 32 的精度基本持平">
            <a:extLst xmlns:a="http://schemas.openxmlformats.org/drawingml/2006/main">
              <a:ext uri="{FF2B5EF4-FFF2-40B4-BE49-F238E27FC236}">
                <a16:creationId xmlns:a16="http://schemas.microsoft.com/office/drawing/2014/main" id="{B69EA50C-01F8-44CA-8319-A5ABAF63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时间锚点消融：16 与 32 的精度基本持平</a:t>
            </a:r>
          </a:p>
        </p:txBody>
      </p:sp>
      <p:sp>
        <p:nvSpPr>
          <p:cNvPr id="2" name="固定 attn_drop=0.1、FFN=4、R=2，仅改变时间">
            <a:extLst xmlns:a="http://schemas.openxmlformats.org/drawingml/2006/main">
              <a:ext uri="{FF2B5EF4-FFF2-40B4-BE49-F238E27FC236}">
                <a16:creationId xmlns:a16="http://schemas.microsoft.com/office/drawing/2014/main" id="{63FC5016-2527-4A24-BA71-B65F9935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固定 attn_drop=0.1、FFN=4、R=2，仅改变时间锚点数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C1889217-D450-4D51-ABC7-7D9CD16B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40AD6-65DE-46C6-AF2F-764345EB79D2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238375"/>
                <a:gridCol w="2238375"/>
                <a:gridCol w="2238375"/>
                <a:gridCol w="2257425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锚点数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Top-1 / 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 GFLOPs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88.6092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9.8198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1.8072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3,376,819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88.6153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10.0498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1.8226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3,376,819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精度变化 +0.0061 个百分点">
            <a:extLst xmlns:a="http://schemas.openxmlformats.org/drawingml/2006/main">
              <a:ext uri="{FF2B5EF4-FFF2-40B4-BE49-F238E27FC236}">
                <a16:creationId xmlns:a16="http://schemas.microsoft.com/office/drawing/2014/main" id="{FB00299C-808B-4207-B537-5961B661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精度变化 +0.0061 个百分点</a:t>
            </a:r>
          </a:p>
        </p:txBody>
      </p:sp>
      <p:sp>
        <p:nvSpPr>
          <p:cNvPr id="6" name="结构耗时变化 +2.34%">
            <a:extLst xmlns:a="http://schemas.openxmlformats.org/drawingml/2006/main">
              <a:ext uri="{FF2B5EF4-FFF2-40B4-BE49-F238E27FC236}">
                <a16:creationId xmlns:a16="http://schemas.microsoft.com/office/drawing/2014/main" id="{937DEE7F-D07F-4ADB-ADC2-8375BF3F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52950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325" b="1">
                <a:solidFill>
                  <a:srgbClr val="A65D2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65D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65D22"/>
                </a:solidFill>
                <a:latin typeface="Microsoft YaHei"/>
                <a:ea typeface="Microsoft YaHei"/>
                <a:cs typeface="Microsoft YaHei"/>
              </a:rPr>
              <a:t>结构耗时变化 +2.34%</a:t>
            </a:r>
          </a:p>
        </p:txBody>
      </p:sp>
      <p:sp>
        <p:nvSpPr>
          <p:cNvPr id="7" name="暂保留 16 锚点作为后续结构消融起点">
            <a:extLst xmlns:a="http://schemas.openxmlformats.org/drawingml/2006/main">
              <a:ext uri="{FF2B5EF4-FFF2-40B4-BE49-F238E27FC236}">
                <a16:creationId xmlns:a16="http://schemas.microsoft.com/office/drawing/2014/main" id="{56B04205-4AD0-45BF-8051-756FA70D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暂保留 16 锚点作为后续结构消融起点</a:t>
            </a:r>
          </a:p>
        </p:txBody>
      </p:sp>
      <p:sp>
        <p:nvSpPr>
          <p:cNvPr id="8" name="精度来自训练日志；耗时来自 10 月 13 日随机权重配对测速（">
            <a:extLst xmlns:a="http://schemas.openxmlformats.org/drawingml/2006/main">
              <a:ext uri="{FF2B5EF4-FFF2-40B4-BE49-F238E27FC236}">
                <a16:creationId xmlns:a16="http://schemas.microsoft.com/office/drawing/2014/main" id="{8FDB6D33-A412-496C-BA2B-A7215828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精度来自训练日志；耗时来自 10 月 13 日随机权重配对测速（10×100 次）。轮间有抖动，尚无稳定增益证据。</a:t>
            </a:r>
          </a:p>
        </p:txBody>
      </p:sp>
    </p:spTree>
    <p:extLst>
      <p:ext uri="{BB962C8B-B14F-4D97-AF65-F5344CB8AC3E}">
        <p14:creationId xmlns:p14="http://schemas.microsoft.com/office/powerpoint/2010/main" val="998011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ocalT3：补充局部时间建模的候选分支">
            <a:extLst xmlns:a="http://schemas.openxmlformats.org/drawingml/2006/main">
              <a:ext uri="{FF2B5EF4-FFF2-40B4-BE49-F238E27FC236}">
                <a16:creationId xmlns:a16="http://schemas.microsoft.com/office/drawing/2014/main" id="{23300584-4002-4F5D-A778-BD3FE64B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LocalT3：补充局部时间建模的候选分支</a:t>
            </a:r>
          </a:p>
        </p:txBody>
      </p:sp>
      <p:sp>
        <p:nvSpPr>
          <p:cNvPr id="2" name="共享 Value 上增加 3×1 深度时间卷积，可学习缩放初始化">
            <a:extLst xmlns:a="http://schemas.openxmlformats.org/drawingml/2006/main">
              <a:ext uri="{FF2B5EF4-FFF2-40B4-BE49-F238E27FC236}">
                <a16:creationId xmlns:a16="http://schemas.microsoft.com/office/drawing/2014/main" id="{A7ADD98C-D14A-479F-B8E7-1E3A8444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共享 Value 上增加 3×1 深度时间卷积，可学习缩放初始化为 0.1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4C3E54F5-F406-4F90-BCEC-01D3588F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AC5A2-7B85-4BDF-9D3C-E5BF60DEE8F3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952625"/>
                <a:gridCol w="1952625"/>
                <a:gridCol w="2209800"/>
                <a:gridCol w="19050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P95 / ms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训练精度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14.4006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18.1879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3,386,707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本轮未测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9.6308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12.2631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3,376,819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本轮未测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RCA + LocalT3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10.3256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13.5194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3,380,859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尚未训练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新增分支比 RCA 慢 7.21%，仍比 B0 快 28.30%">
            <a:extLst xmlns:a="http://schemas.openxmlformats.org/drawingml/2006/main">
              <a:ext uri="{FF2B5EF4-FFF2-40B4-BE49-F238E27FC236}">
                <a16:creationId xmlns:a16="http://schemas.microsoft.com/office/drawing/2014/main" id="{2F857620-F9BC-4440-A61B-2A38F2EB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新增分支比 RCA 慢 7.21%，仍比 B0 快 28.30%</a:t>
            </a:r>
          </a:p>
        </p:txBody>
      </p:sp>
      <p:sp>
        <p:nvSpPr>
          <p:cNvPr id="6" name="10 月 13 日同次测试，FP32、B=1、随机权重，6 轮×">
            <a:extLst xmlns:a="http://schemas.openxmlformats.org/drawingml/2006/main">
              <a:ext uri="{FF2B5EF4-FFF2-40B4-BE49-F238E27FC236}">
                <a16:creationId xmlns:a16="http://schemas.microsoft.com/office/drawing/2014/main" id="{D10212F0-9BDE-4D4F-919E-271C458B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10 月 13 日同次测试，FP32、B=1、随机权重，6 轮×100 次。是否值得增加开销，需由训练精度决定。</a:t>
            </a:r>
          </a:p>
        </p:txBody>
      </p:sp>
    </p:spTree>
    <p:extLst>
      <p:ext uri="{BB962C8B-B14F-4D97-AF65-F5344CB8AC3E}">
        <p14:creationId xmlns:p14="http://schemas.microsoft.com/office/powerpoint/2010/main" val="10394687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早期识别：历史基线与意图控制结果">
            <a:extLst xmlns:a="http://schemas.openxmlformats.org/drawingml/2006/main">
              <a:ext uri="{FF2B5EF4-FFF2-40B4-BE49-F238E27FC236}">
                <a16:creationId xmlns:a16="http://schemas.microsoft.com/office/drawing/2014/main" id="{A9429B7C-10C5-4453-AF3D-70652597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早期识别：历史基线与意图控制结果</a:t>
            </a:r>
          </a:p>
        </p:txBody>
      </p:sp>
      <p:sp>
        <p:nvSpPr>
          <p:cNvPr id="2" name="历史 24 关节双人协议，与当前 14 关节单人加速实验分开报告">
            <a:extLst xmlns:a="http://schemas.openxmlformats.org/drawingml/2006/main">
              <a:ext uri="{FF2B5EF4-FFF2-40B4-BE49-F238E27FC236}">
                <a16:creationId xmlns:a16="http://schemas.microsoft.com/office/drawing/2014/main" id="{F9F282DF-4BF7-42AE-A263-AE908CEE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历史 24 关节双人协议，与当前 14 关节单人加速实验分开报告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4DA240FC-1D72-41A2-8A7E-93BE925C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9AC19-68D5-4E19-A4F7-11A5D70D0862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86300"/>
                <a:gridCol w="2095500"/>
                <a:gridCol w="2095500"/>
                <a:gridCol w="2095500"/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r=0.1 Top-1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r=0.3 Top-1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r=0.5 Top-1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prefix_multi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31.88%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68.92%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85.52%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semantic intent-only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31.69%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67.95%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85.35%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intent-only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31.32%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68.37%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85.42%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early-observable v2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68.33%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85.46%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trajectory + 自适应权重/门控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31.30%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68.48%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85.53%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意图控制尚未改善低观测比例结果，后续需检验蒸馏是否有效">
            <a:extLst xmlns:a="http://schemas.openxmlformats.org/drawingml/2006/main">
              <a:ext uri="{FF2B5EF4-FFF2-40B4-BE49-F238E27FC236}">
                <a16:creationId xmlns:a16="http://schemas.microsoft.com/office/drawing/2014/main" id="{AFAC18C9-7B6C-4FC9-A00A-A8123561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意图控制尚未改善低观测比例结果，后续需检验蒸馏是否有效</a:t>
            </a:r>
          </a:p>
        </p:txBody>
      </p:sp>
      <p:sp>
        <p:nvSpPr>
          <p:cNvPr id="6" name="r 为可观测前缀比例。prefix_multi 作为基线简述；蒸">
            <a:extLst xmlns:a="http://schemas.openxmlformats.org/drawingml/2006/main">
              <a:ext uri="{FF2B5EF4-FFF2-40B4-BE49-F238E27FC236}">
                <a16:creationId xmlns:a16="http://schemas.microsoft.com/office/drawing/2014/main" id="{8B71B144-0FAD-4238-8A08-68CAD35A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r 为可观测前缀比例。prefix_multi 作为基线简述；蒸馏及联合方案尚无此处可报告的完成结果。</a:t>
            </a:r>
          </a:p>
        </p:txBody>
      </p:sp>
    </p:spTree>
    <p:extLst>
      <p:ext uri="{BB962C8B-B14F-4D97-AF65-F5344CB8AC3E}">
        <p14:creationId xmlns:p14="http://schemas.microsoft.com/office/powerpoint/2010/main" val="2227540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算子优化与系统部署安排">
            <a:extLst xmlns:a="http://schemas.openxmlformats.org/drawingml/2006/main">
              <a:ext uri="{FF2B5EF4-FFF2-40B4-BE49-F238E27FC236}">
                <a16:creationId xmlns:a16="http://schemas.microsoft.com/office/drawing/2014/main" id="{B06D6D3F-9718-4AAF-868A-FA464E59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算子优化与系统部署安排</a:t>
            </a:r>
          </a:p>
        </p:txBody>
      </p:sp>
      <p:sp>
        <p:nvSpPr>
          <p:cNvPr id="2" name="以目标设备上的多人端到端延迟作为最终验收依据">
            <a:extLst xmlns:a="http://schemas.openxmlformats.org/drawingml/2006/main">
              <a:ext uri="{FF2B5EF4-FFF2-40B4-BE49-F238E27FC236}">
                <a16:creationId xmlns:a16="http://schemas.microsoft.com/office/drawing/2014/main" id="{F142DF81-3F46-486B-B744-6D5B5F0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以目标设备上的多人端到端延迟作为最终验收依据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B45548D-D4D0-42A5-8954-E46D3B8A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BC191-558F-4F55-A2DF-FBCD15B0E430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5181600"/>
                <a:gridCol w="299085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验证指标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Skate-RCA 算子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定位聚合、重排、投影热点，评估融合实现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同输入输出精度与实测延迟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骨架提取与模型压缩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骨架模型剪枝，关节数量与量化方案对照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姿态质量、识别率、存储与耗时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多人嵌入式部署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2 TOPS 平台，batch=1/5/10/20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P50/P95、吞吐、内存与功耗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系统预警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串联检测、跟踪、骨架、分类与预警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从采集到预警的端到端时延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5" name="已有工程基础：Beam search 算子约 2000+ 行，过">
            <a:extLst xmlns:a="http://schemas.openxmlformats.org/drawingml/2006/main">
              <a:ext uri="{FF2B5EF4-FFF2-40B4-BE49-F238E27FC236}">
                <a16:creationId xmlns:a16="http://schemas.microsoft.com/office/drawing/2014/main" id="{DAEFB964-BD89-49AE-8F38-04541C45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已有工程基础：Beam search 算子约 2000+ 行，过程耗时减少约 70%</a:t>
            </a:r>
          </a:p>
        </p:txBody>
      </p:sp>
      <p:sp>
        <p:nvSpPr>
          <p:cNvPr id="6" name="Beam search 为用户提供的既往结果，不代表 RCA 的">
            <a:extLst xmlns:a="http://schemas.openxmlformats.org/drawingml/2006/main">
              <a:ext uri="{FF2B5EF4-FFF2-40B4-BE49-F238E27FC236}">
                <a16:creationId xmlns:a16="http://schemas.microsoft.com/office/drawing/2014/main" id="{71581AC5-E427-419D-9C02-EC227237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Beam search 为用户提供的既往结果，不代表 RCA 的优化收益。部署、剪枝与量化项为后续工作。</a:t>
            </a:r>
          </a:p>
        </p:txBody>
      </p:sp>
    </p:spTree>
    <p:extLst>
      <p:ext uri="{BB962C8B-B14F-4D97-AF65-F5344CB8AC3E}">
        <p14:creationId xmlns:p14="http://schemas.microsoft.com/office/powerpoint/2010/main" val="3891945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下一阶段实验安排">
            <a:extLst xmlns:a="http://schemas.openxmlformats.org/drawingml/2006/main">
              <a:ext uri="{FF2B5EF4-FFF2-40B4-BE49-F238E27FC236}">
                <a16:creationId xmlns:a16="http://schemas.microsoft.com/office/drawing/2014/main" id="{3608190C-70BB-463C-8457-3D551081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下一阶段实验安排</a:t>
            </a:r>
          </a:p>
        </p:txBody>
      </p:sp>
      <p:sp>
        <p:nvSpPr>
          <p:cNvPr id="2" name="先补齐精度与延迟的对应证据，再推进端侧目标">
            <a:extLst xmlns:a="http://schemas.openxmlformats.org/drawingml/2006/main">
              <a:ext uri="{FF2B5EF4-FFF2-40B4-BE49-F238E27FC236}">
                <a16:creationId xmlns:a16="http://schemas.microsoft.com/office/drawing/2014/main" id="{3DF6EAA1-21EF-4F4B-9FEB-7038015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先补齐精度与延迟的对应证据，再推进端侧目标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ED31395F-EFED-4F0A-8E8D-8F8BF8FD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0C05B950-D845-4A25-8766-81F3617F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核验最佳 checkpoint">
            <a:extLst xmlns:a="http://schemas.openxmlformats.org/drawingml/2006/main">
              <a:ext uri="{FF2B5EF4-FFF2-40B4-BE49-F238E27FC236}">
                <a16:creationId xmlns:a16="http://schemas.microsoft.com/office/drawing/2014/main" id="{ED13F019-5A21-4C6B-A61A-F5A6EF45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核验最佳 checkpoint</a:t>
            </a:r>
          </a:p>
        </p:txBody>
      </p:sp>
      <p:sp>
        <p:nvSpPr>
          <p:cNvPr id="6" name="复核 B0 与 RCA 配置和权重，在同设备完成精度与延迟联合测">
            <a:extLst xmlns:a="http://schemas.openxmlformats.org/drawingml/2006/main">
              <a:ext uri="{FF2B5EF4-FFF2-40B4-BE49-F238E27FC236}">
                <a16:creationId xmlns:a16="http://schemas.microsoft.com/office/drawing/2014/main" id="{380AD15B-EF8D-4291-9443-8E3F4817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复核 B0 与 RCA 配置和权重，在同设备完成精度与延迟联合测试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96FA65D6-1B1F-4584-9F9A-75421A2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验证精度恢复方案">
            <a:extLst xmlns:a="http://schemas.openxmlformats.org/drawingml/2006/main">
              <a:ext uri="{FF2B5EF4-FFF2-40B4-BE49-F238E27FC236}">
                <a16:creationId xmlns:a16="http://schemas.microsoft.com/office/drawing/2014/main" id="{00022E9D-8A10-4247-B378-9F68E7B4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验证精度恢复方案</a:t>
            </a:r>
          </a:p>
        </p:txBody>
      </p:sp>
      <p:sp>
        <p:nvSpPr>
          <p:cNvPr id="9" name="完成 LocalT3 训练，必要时比较部分 stage 替换与教">
            <a:extLst xmlns:a="http://schemas.openxmlformats.org/drawingml/2006/main">
              <a:ext uri="{FF2B5EF4-FFF2-40B4-BE49-F238E27FC236}">
                <a16:creationId xmlns:a16="http://schemas.microsoft.com/office/drawing/2014/main" id="{680ADC57-AE59-4C45-B6FB-9A7DAA51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完成 LocalT3 训练，必要时比较部分 stage 替换与教师蒸馏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C6496BE4-8B3B-4029-B1D2-92BBF057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检验结果稳定性">
            <a:extLst xmlns:a="http://schemas.openxmlformats.org/drawingml/2006/main">
              <a:ext uri="{FF2B5EF4-FFF2-40B4-BE49-F238E27FC236}">
                <a16:creationId xmlns:a16="http://schemas.microsoft.com/office/drawing/2014/main" id="{67512C88-5D48-4B8E-B6F8-8DC20D6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检验结果稳定性</a:t>
            </a:r>
          </a:p>
        </p:txBody>
      </p:sp>
      <p:sp>
        <p:nvSpPr>
          <p:cNvPr id="12" name="补多 seed 与 XView，对照延迟均值、P95 和精度波动">
            <a:extLst xmlns:a="http://schemas.openxmlformats.org/drawingml/2006/main">
              <a:ext uri="{FF2B5EF4-FFF2-40B4-BE49-F238E27FC236}">
                <a16:creationId xmlns:a16="http://schemas.microsoft.com/office/drawing/2014/main" id="{3022B294-8CA9-4B30-8CE5-3DEB0876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补多 seed 与 XView，对照延迟均值、P95 和精度波动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8776FC80-A966-45B0-9596-CE543634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819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推进多人端侧验证">
            <a:extLst xmlns:a="http://schemas.openxmlformats.org/drawingml/2006/main">
              <a:ext uri="{FF2B5EF4-FFF2-40B4-BE49-F238E27FC236}">
                <a16:creationId xmlns:a16="http://schemas.microsoft.com/office/drawing/2014/main" id="{B7B6D9F9-27E1-47C4-9DA7-1BFF5B54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推进多人端侧验证</a:t>
            </a:r>
          </a:p>
        </p:txBody>
      </p:sp>
      <p:sp>
        <p:nvSpPr>
          <p:cNvPr id="15" name="扫描 batch=1/5/10/20，拆分骨架提取、分类及排队开">
            <a:extLst xmlns:a="http://schemas.openxmlformats.org/drawingml/2006/main">
              <a:ext uri="{FF2B5EF4-FFF2-40B4-BE49-F238E27FC236}">
                <a16:creationId xmlns:a16="http://schemas.microsoft.com/office/drawing/2014/main" id="{88A50852-CF62-4AC9-9AE0-194C277E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6619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扫描 batch=1/5/10/20，拆分骨架提取、分类及排队开销</a:t>
            </a:r>
          </a:p>
        </p:txBody>
      </p:sp>
      <p:sp>
        <p:nvSpPr>
          <p:cNvPr id="16" name="当前可支持：RCA 有结构加速潜力。仍待证明：精度收益、早期预警">
            <a:extLst xmlns:a="http://schemas.openxmlformats.org/drawingml/2006/main">
              <a:ext uri="{FF2B5EF4-FFF2-40B4-BE49-F238E27FC236}">
                <a16:creationId xmlns:a16="http://schemas.microsoft.com/office/drawing/2014/main" id="{EACD689E-27BB-4710-8B0C-BE6EC950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当前可支持：RCA 有结构加速潜力。仍待证明：精度收益、早期预警收益与 20 人 / 100 ms 端侧目标。</a:t>
            </a:r>
          </a:p>
        </p:txBody>
      </p:sp>
    </p:spTree>
    <p:extLst>
      <p:ext uri="{BB962C8B-B14F-4D97-AF65-F5344CB8AC3E}">
        <p14:creationId xmlns:p14="http://schemas.microsoft.com/office/powerpoint/2010/main" val="20795800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附录：论文小节安排（第1—3章）">
            <a:extLst xmlns:a="http://schemas.openxmlformats.org/drawingml/2006/main">
              <a:ext uri="{FF2B5EF4-FFF2-40B4-BE49-F238E27FC236}">
                <a16:creationId xmlns:a16="http://schemas.microsoft.com/office/drawing/2014/main" id="{B2F3892F-7D47-476E-A7F9-3040B235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附录：论文小节安排（第1—3章）</a:t>
            </a:r>
          </a:p>
        </p:txBody>
      </p:sp>
      <p:sp>
        <p:nvSpPr>
          <p:cNvPr id="2" name="保留章节结构，基础方法简述，重点突出待验证贡献">
            <a:extLst xmlns:a="http://schemas.openxmlformats.org/drawingml/2006/main">
              <a:ext uri="{FF2B5EF4-FFF2-40B4-BE49-F238E27FC236}">
                <a16:creationId xmlns:a16="http://schemas.microsoft.com/office/drawing/2014/main" id="{F9ADEA82-DE29-4FD8-ACFE-B497E158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保留章节结构，基础方法简述，重点突出待验证贡献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0039AFE3-2B35-49C3-9232-F27E3596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第1章  绪论">
            <a:extLst xmlns:a="http://schemas.openxmlformats.org/drawingml/2006/main">
              <a:ext uri="{FF2B5EF4-FFF2-40B4-BE49-F238E27FC236}">
                <a16:creationId xmlns:a16="http://schemas.microsoft.com/office/drawing/2014/main" id="{26DF3691-5CD0-449E-B432-D762E916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0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第1章  绪论</a:t>
            </a:r>
          </a:p>
        </p:txBody>
      </p:sp>
      <p:sp>
        <p:nvSpPr>
          <p:cNvPr id="5" name="1.1  研究目的和意义&#10;1.2  国内外研究现状及发展趋势&#10;1">
            <a:extLst xmlns:a="http://schemas.openxmlformats.org/drawingml/2006/main">
              <a:ext uri="{FF2B5EF4-FFF2-40B4-BE49-F238E27FC236}">
                <a16:creationId xmlns:a16="http://schemas.microsoft.com/office/drawing/2014/main" id="{AA734990-72D5-40A7-9C92-72D27F04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340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1.1  研究目的和意义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1.2  国内外研究现状及发展趋势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1.3  论文主要研究内容及章节安排</a:t>
            </a:r>
          </a:p>
        </p:txBody>
      </p:sp>
      <p:sp>
        <p:nvSpPr>
          <p:cNvPr id="6" name="第2章  Skate-RCA">
            <a:extLst xmlns:a="http://schemas.openxmlformats.org/drawingml/2006/main">
              <a:ext uri="{FF2B5EF4-FFF2-40B4-BE49-F238E27FC236}">
                <a16:creationId xmlns:a16="http://schemas.microsoft.com/office/drawing/2014/main" id="{3624A0D3-FD38-467A-A7C5-B79AC3C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第2章  Skate-RCA</a:t>
            </a:r>
          </a:p>
        </p:txBody>
      </p:sp>
      <p:sp>
        <p:nvSpPr>
          <p:cNvPr id="7" name="2.1  引言（已有方法及局限）&#10;2.2  Skate 算法总览">
            <a:extLst xmlns:a="http://schemas.openxmlformats.org/drawingml/2006/main">
              <a:ext uri="{FF2B5EF4-FFF2-40B4-BE49-F238E27FC236}">
                <a16:creationId xmlns:a16="http://schemas.microsoft.com/office/drawing/2014/main" id="{2C448F5F-1D40-41CF-A646-B7A33B02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334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2.1  引言（已有方法及局限）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2.2  Skate 算法总览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2.3  Skate-RCA 模块介绍</a:t>
            </a:r>
          </a:p>
          <a:p xmlns:a="http://schemas.openxmlformats.org/drawingml/2006/main">
            <a:pPr>
              <a:def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2.4  效果及消融实验</a:t>
            </a:r>
          </a:p>
        </p:txBody>
      </p:sp>
      <p:sp>
        <p:nvSpPr>
          <p:cNvPr id="8" name="第3章  意图分类控制的早期动作识别">
            <a:extLst xmlns:a="http://schemas.openxmlformats.org/drawingml/2006/main">
              <a:ext uri="{FF2B5EF4-FFF2-40B4-BE49-F238E27FC236}">
                <a16:creationId xmlns:a16="http://schemas.microsoft.com/office/drawing/2014/main" id="{C0826EB8-3718-4AA0-8E1A-67B4447B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509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第3章  意图分类控制的早期动作识别</a:t>
            </a:r>
          </a:p>
        </p:txBody>
      </p:sp>
      <p:sp>
        <p:nvSpPr>
          <p:cNvPr id="9" name="3.1  引言&#10;3.2  基于 attention 和卷积的融合">
            <a:extLst xmlns:a="http://schemas.openxmlformats.org/drawingml/2006/main">
              <a:ext uri="{FF2B5EF4-FFF2-40B4-BE49-F238E27FC236}">
                <a16:creationId xmlns:a16="http://schemas.microsoft.com/office/drawing/2014/main" id="{55B25A20-2D06-4073-B554-48BAFB77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51054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3.1  引言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3.2  基于 attention 和卷积的融合早期识别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SkateFormer prefix_multi 基线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3.3  意图分类控制 + 蒸馏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3.3.1  算法优化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3.3.2  蒸馏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        3.3.3  消融实验与数据分析</a:t>
            </a:r>
          </a:p>
          <a:p xmlns:a="http://schemas.openxmlformats.org/drawingml/2006/main">
            <a:pPr>
              <a:def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3.4  本章小结</a:t>
            </a:r>
          </a:p>
        </p:txBody>
      </p:sp>
    </p:spTree>
    <p:extLst>
      <p:ext uri="{BB962C8B-B14F-4D97-AF65-F5344CB8AC3E}">
        <p14:creationId xmlns:p14="http://schemas.microsoft.com/office/powerpoint/2010/main" val="6726794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附录：论文小节安排（第4—5章）">
            <a:extLst xmlns:a="http://schemas.openxmlformats.org/drawingml/2006/main">
              <a:ext uri="{FF2B5EF4-FFF2-40B4-BE49-F238E27FC236}">
                <a16:creationId xmlns:a16="http://schemas.microsoft.com/office/drawing/2014/main" id="{AA7A1926-B09F-4911-90A8-04561EDE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附录：论文小节安排（第4—5章）</a:t>
            </a:r>
          </a:p>
        </p:txBody>
      </p:sp>
      <p:sp>
        <p:nvSpPr>
          <p:cNvPr id="2" name="算法结构、执行效率与系统部署形成完整验证链条">
            <a:extLst xmlns:a="http://schemas.openxmlformats.org/drawingml/2006/main">
              <a:ext uri="{FF2B5EF4-FFF2-40B4-BE49-F238E27FC236}">
                <a16:creationId xmlns:a16="http://schemas.microsoft.com/office/drawing/2014/main" id="{68ACF4AB-701C-4D6B-85EF-127152FF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算法结构、执行效率与系统部署形成完整验证链条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D82A5AF9-1ECE-4EDB-844A-139E191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第4章  针对 Skate-RCA 的算子优化">
            <a:extLst xmlns:a="http://schemas.openxmlformats.org/drawingml/2006/main">
              <a:ext uri="{FF2B5EF4-FFF2-40B4-BE49-F238E27FC236}">
                <a16:creationId xmlns:a16="http://schemas.microsoft.com/office/drawing/2014/main" id="{12C1F79D-3113-4B9C-BCC3-45F47C03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295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第4章  针对 Skate-RCA 的算子优化</a:t>
            </a:r>
          </a:p>
        </p:txBody>
      </p:sp>
      <p:sp>
        <p:nvSpPr>
          <p:cNvPr id="5" name="4.1  引言&#10;4.2  算子总览&#10;4.3  优化手段&#10;4.4 ">
            <a:extLst xmlns:a="http://schemas.openxmlformats.org/drawingml/2006/main">
              <a:ext uri="{FF2B5EF4-FFF2-40B4-BE49-F238E27FC236}">
                <a16:creationId xmlns:a16="http://schemas.microsoft.com/office/drawing/2014/main" id="{384132D3-F18D-4AD7-9B80-BAED5AE1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23875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4.1  引言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4.2  算子总览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4.3  优化手段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4.4  本章小结</a:t>
            </a:r>
          </a:p>
        </p:txBody>
      </p:sp>
      <p:sp>
        <p:nvSpPr>
          <p:cNvPr id="6" name="第5章  高实时性视觉识别系统">
            <a:extLst xmlns:a="http://schemas.openxmlformats.org/drawingml/2006/main">
              <a:ext uri="{FF2B5EF4-FFF2-40B4-BE49-F238E27FC236}">
                <a16:creationId xmlns:a16="http://schemas.microsoft.com/office/drawing/2014/main" id="{93606A97-E0DB-4544-B163-FA879C03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95475"/>
            <a:ext cx="5057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5D9A"/>
                </a:solidFill>
                <a:latin typeface="Microsoft YaHei"/>
                <a:ea typeface="Microsoft YaHei"/>
                <a:cs typeface="Microsoft YaHei"/>
              </a:rPr>
              <a:t>第5章  高实时性视觉识别系统</a:t>
            </a:r>
          </a:p>
        </p:txBody>
      </p:sp>
      <p:sp>
        <p:nvSpPr>
          <p:cNvPr id="7" name="5.1  引言&#10;5.2  骨骼点识别模型剪枝优化&#10;5.3  模型">
            <a:extLst xmlns:a="http://schemas.openxmlformats.org/drawingml/2006/main">
              <a:ext uri="{FF2B5EF4-FFF2-40B4-BE49-F238E27FC236}">
                <a16:creationId xmlns:a16="http://schemas.microsoft.com/office/drawing/2014/main" id="{71D47878-577C-40D6-90B5-05E445D8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50577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5.1  引言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5.2  骨骼点识别模型剪枝优化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5.3  模型剪枝与量化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5.4  嵌入式设备部署</a:t>
            </a:r>
          </a:p>
          <a:p xmlns:a="http://schemas.openxmlformats.org/drawingml/2006/main">
            <a:pPr>
              <a:def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5.5  本章小结</a:t>
            </a:r>
          </a:p>
        </p:txBody>
      </p:sp>
      <p:sp>
        <p:nvSpPr>
          <p:cNvPr id="8" name="建议在第5章明确各阶段时延预算，并报告骨架提取质量对动作识别与预">
            <a:extLst xmlns:a="http://schemas.openxmlformats.org/drawingml/2006/main">
              <a:ext uri="{FF2B5EF4-FFF2-40B4-BE49-F238E27FC236}">
                <a16:creationId xmlns:a16="http://schemas.microsoft.com/office/drawing/2014/main" id="{4EDADD35-FB88-4F07-8C14-F4C9B750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建议在第5章明确各阶段时延预算，并报告骨架提取质量对动作识别与预警的影响。</a:t>
            </a:r>
          </a:p>
        </p:txBody>
      </p:sp>
    </p:spTree>
    <p:extLst>
      <p:ext uri="{BB962C8B-B14F-4D97-AF65-F5344CB8AC3E}">
        <p14:creationId xmlns:p14="http://schemas.microsoft.com/office/powerpoint/2010/main" val="2844775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附录：Type 1 分区与张量形状">
            <a:extLst xmlns:a="http://schemas.openxmlformats.org/drawingml/2006/main">
              <a:ext uri="{FF2B5EF4-FFF2-40B4-BE49-F238E27FC236}">
                <a16:creationId xmlns:a16="http://schemas.microsoft.com/office/drawing/2014/main" id="{89BDBF30-B6A8-4864-82E1-AF35184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D45"/>
                </a:solidFill>
                <a:latin typeface="Microsoft YaHei"/>
                <a:ea typeface="Microsoft YaHei"/>
                <a:cs typeface="Microsoft YaHei"/>
              </a:rPr>
              <a:t>附录：Type 1 分区与张量形状</a:t>
            </a:r>
          </a:p>
        </p:txBody>
      </p:sp>
      <p:sp>
        <p:nvSpPr>
          <p:cNvPr id="2" name="示例 T=64、V=14、窗口=(8,7)、C=192、H=32">
            <a:extLst xmlns:a="http://schemas.openxmlformats.org/drawingml/2006/main">
              <a:ext uri="{FF2B5EF4-FFF2-40B4-BE49-F238E27FC236}">
                <a16:creationId xmlns:a16="http://schemas.microsoft.com/office/drawing/2014/main" id="{1A5DB494-E337-4B92-B6BC-5A97DAA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0934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示例 T=64、V=14、窗口=(8,7)、C=192、H=32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E9E49AD0-9033-4A3B-8B78-3A4D9AD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9A2C6-BF84-4F30-AFE1-0C968197DF21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张量形状 / 数量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T w="5715">
                      <a:solidFill>
                        <a:srgbClr val="DCE5ED"/>
                      </a:solidFill>
                      <a:prstDash val="solid"/>
                    </a:lnT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172D45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分区窗口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个窗口 / 样本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个时间组 × 2 个关节组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 Token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帧 × 7 个关节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QKV 分区后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[B×16, 56, 72]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单路有效通道 C/8=24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拆分 Q、K、V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[B×16, 4, 56, 6]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个 head，每个 head 6 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 map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CE5ED"/>
                      </a:solidFill>
                      <a:prstDash val="solid"/>
                    </a:lnL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[B×16, 4, 56, 56]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72D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窗口内的两两关系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CE5ED"/>
                      </a:solidFill>
                      <a:prstDash val="solid"/>
                    </a:lnR>
                    <a:lnB w="5715">
                      <a:solidFill>
                        <a:srgbClr val="DCE5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分区增加窗口数量，但每个矩阵较小，仍可能出现调度碎片化">
            <a:extLst xmlns:a="http://schemas.openxmlformats.org/drawingml/2006/main">
              <a:ext uri="{FF2B5EF4-FFF2-40B4-BE49-F238E27FC236}">
                <a16:creationId xmlns:a16="http://schemas.microsoft.com/office/drawing/2014/main" id="{0ACF3F01-AB17-4CDA-93E9-F16846D2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分区增加窗口数量，但每个矩阵较小，仍可能出现调度碎片化</a:t>
            </a:r>
          </a:p>
        </p:txBody>
      </p:sp>
      <p:sp>
        <p:nvSpPr>
          <p:cNvPr id="6" name="Type 1/2 使用连续时间，Type 3/4 使用全局稀疏时">
            <a:extLst xmlns:a="http://schemas.openxmlformats.org/drawingml/2006/main">
              <a:ext uri="{FF2B5EF4-FFF2-40B4-BE49-F238E27FC236}">
                <a16:creationId xmlns:a16="http://schemas.microsoft.com/office/drawing/2014/main" id="{052793D0-9683-4FBE-AC2C-AA0241A4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A"/>
                </a:solidFill>
                <a:latin typeface="Microsoft YaHei"/>
                <a:ea typeface="Microsoft YaHei"/>
                <a:cs typeface="Microsoft YaHei"/>
              </a:rPr>
              <a:t>Type 1/2 使用连续时间，Type 3/4 使用全局稀疏时间。14 关节需核验排序，确保“邻近关节”语义成立。</a:t>
            </a:r>
          </a:p>
        </p:txBody>
      </p:sp>
    </p:spTree>
    <p:extLst>
      <p:ext uri="{BB962C8B-B14F-4D97-AF65-F5344CB8AC3E}">
        <p14:creationId xmlns:p14="http://schemas.microsoft.com/office/powerpoint/2010/main" val="1189283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2026-10-15T14:04:29.9320000Z</dcterms:created>
  <dcterms:modified xsi:type="dcterms:W3CDTF">2026-10-15T14:04:29.9320000Z</dcterms:modified>
</coreProperties>
</file>