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c714b89a04e0e" /><Relationship Type="http://schemas.openxmlformats.org/officeDocument/2006/relationships/extended-properties" Target="/docProps/app.xml" Id="R35255f9472904cdd" /><Relationship Type="http://schemas.openxmlformats.org/officeDocument/2006/relationships/officeDocument" Target="/ppt/presentation.xml" Id="R30b116b65c3c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e738aa4f74b16"/>
  </p:sldMasterIdLst>
  <p:notesMasterIdLst>
    <p:notesMasterId xmlns:r="http://schemas.openxmlformats.org/officeDocument/2006/relationships" r:id="R081793efcab14d71"/>
  </p:notesMasterIdLst>
  <p:sldIdLst>
    <p:sldId xmlns:r="http://schemas.openxmlformats.org/officeDocument/2006/relationships" id="256" r:id="Re89c03adaec74765"/>
    <p:sldId xmlns:r="http://schemas.openxmlformats.org/officeDocument/2006/relationships" id="257" r:id="R7acfd552b5b94895"/>
    <p:sldId xmlns:r="http://schemas.openxmlformats.org/officeDocument/2006/relationships" id="258" r:id="R33fc0b59d8ad4609"/>
    <p:sldId xmlns:r="http://schemas.openxmlformats.org/officeDocument/2006/relationships" id="259" r:id="R9a3d93b39b89436e"/>
    <p:sldId xmlns:r="http://schemas.openxmlformats.org/officeDocument/2006/relationships" id="260" r:id="R426ebba01beb4878"/>
    <p:sldId xmlns:r="http://schemas.openxmlformats.org/officeDocument/2006/relationships" id="261" r:id="R858dabd8f7394521"/>
    <p:sldId xmlns:r="http://schemas.openxmlformats.org/officeDocument/2006/relationships" id="262" r:id="Rabb9e04b092e4ccc"/>
    <p:sldId xmlns:r="http://schemas.openxmlformats.org/officeDocument/2006/relationships" id="263" r:id="R4f7bd1c632b840a7"/>
    <p:sldId xmlns:r="http://schemas.openxmlformats.org/officeDocument/2006/relationships" id="264" r:id="Rece1b11c764140a2"/>
    <p:sldId xmlns:r="http://schemas.openxmlformats.org/officeDocument/2006/relationships" id="265" r:id="R71072dce15df407f"/>
    <p:sldId xmlns:r="http://schemas.openxmlformats.org/officeDocument/2006/relationships" id="266" r:id="Rbd4cf30f2d8742fd"/>
    <p:sldId xmlns:r="http://schemas.openxmlformats.org/officeDocument/2006/relationships" id="267" r:id="R9baf81b49d1e4427"/>
    <p:sldId xmlns:r="http://schemas.openxmlformats.org/officeDocument/2006/relationships" id="268" r:id="R20a54e8b31514745"/>
    <p:sldId xmlns:r="http://schemas.openxmlformats.org/officeDocument/2006/relationships" id="269" r:id="R5ff0be38726140b6"/>
    <p:sldId xmlns:r="http://schemas.openxmlformats.org/officeDocument/2006/relationships" id="270" r:id="R72b3827e475f448d"/>
    <p:sldId xmlns:r="http://schemas.openxmlformats.org/officeDocument/2006/relationships" id="271" r:id="R527468aa4ae7476f"/>
    <p:sldId xmlns:r="http://schemas.openxmlformats.org/officeDocument/2006/relationships" id="272" r:id="R912169b7e8a347b0"/>
    <p:sldId xmlns:r="http://schemas.openxmlformats.org/officeDocument/2006/relationships" id="273" r:id="R0d2abe827ca2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7f3e1c477d4777" /><Relationship Type="http://schemas.openxmlformats.org/officeDocument/2006/relationships/slideMaster" Target="/ppt/slideMasters/slideMaster1.xml" Id="R840e738aa4f74b16" /><Relationship Type="http://schemas.openxmlformats.org/officeDocument/2006/relationships/notesMaster" Target="/ppt/notesMasters/notesMaster1.xml" Id="R081793efcab14d71" /><Relationship Type="http://schemas.openxmlformats.org/officeDocument/2006/relationships/presProps" Target="/ppt/presProps.xml" Id="R2f58797e605a420b" /><Relationship Type="http://schemas.openxmlformats.org/officeDocument/2006/relationships/tableStyles" Target="/ppt/tableStyles.xml" Id="Rfb6aed0ae8104bf1" /><Relationship Type="http://schemas.openxmlformats.org/officeDocument/2006/relationships/slide" Target="/ppt/slides/slide1.xml" Id="Re89c03adaec74765" /><Relationship Type="http://schemas.openxmlformats.org/officeDocument/2006/relationships/slide" Target="/ppt/slides/slide2.xml" Id="R7acfd552b5b94895" /><Relationship Type="http://schemas.openxmlformats.org/officeDocument/2006/relationships/slide" Target="/ppt/slides/slide3.xml" Id="R33fc0b59d8ad4609" /><Relationship Type="http://schemas.openxmlformats.org/officeDocument/2006/relationships/slide" Target="/ppt/slides/slide4.xml" Id="R9a3d93b39b89436e" /><Relationship Type="http://schemas.openxmlformats.org/officeDocument/2006/relationships/slide" Target="/ppt/slides/slide5.xml" Id="R426ebba01beb4878" /><Relationship Type="http://schemas.openxmlformats.org/officeDocument/2006/relationships/slide" Target="/ppt/slides/slide6.xml" Id="R858dabd8f7394521" /><Relationship Type="http://schemas.openxmlformats.org/officeDocument/2006/relationships/slide" Target="/ppt/slides/slide7.xml" Id="Rabb9e04b092e4ccc" /><Relationship Type="http://schemas.openxmlformats.org/officeDocument/2006/relationships/slide" Target="/ppt/slides/slide8.xml" Id="R4f7bd1c632b840a7" /><Relationship Type="http://schemas.openxmlformats.org/officeDocument/2006/relationships/slide" Target="/ppt/slides/slide9.xml" Id="Rece1b11c764140a2" /><Relationship Type="http://schemas.openxmlformats.org/officeDocument/2006/relationships/slide" Target="/ppt/slides/slide10.xml" Id="R71072dce15df407f" /><Relationship Type="http://schemas.openxmlformats.org/officeDocument/2006/relationships/slide" Target="/ppt/slides/slide11.xml" Id="Rbd4cf30f2d8742fd" /><Relationship Type="http://schemas.openxmlformats.org/officeDocument/2006/relationships/slide" Target="/ppt/slides/slide12.xml" Id="R9baf81b49d1e4427" /><Relationship Type="http://schemas.openxmlformats.org/officeDocument/2006/relationships/slide" Target="/ppt/slides/slide13.xml" Id="R20a54e8b31514745" /><Relationship Type="http://schemas.openxmlformats.org/officeDocument/2006/relationships/slide" Target="/ppt/slides/slide14.xml" Id="R5ff0be38726140b6" /><Relationship Type="http://schemas.openxmlformats.org/officeDocument/2006/relationships/slide" Target="/ppt/slides/slide15.xml" Id="R72b3827e475f448d" /><Relationship Type="http://schemas.openxmlformats.org/officeDocument/2006/relationships/slide" Target="/ppt/slides/slide16.xml" Id="R527468aa4ae7476f" /><Relationship Type="http://schemas.openxmlformats.org/officeDocument/2006/relationships/slide" Target="/ppt/slides/slide17.xml" Id="R912169b7e8a347b0" /><Relationship Type="http://schemas.openxmlformats.org/officeDocument/2006/relationships/slide" Target="/ppt/slides/slide18.xml" Id="R0d2abe827ca2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88dc033e3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15d55bfe4b4c42" /><Relationship Type="http://schemas.openxmlformats.org/officeDocument/2006/relationships/notesMaster" Target="/ppt/notesMasters/notesMaster1.xml" Id="R308b711e1a6b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a07ccecba47ce" /><Relationship Type="http://schemas.openxmlformats.org/officeDocument/2006/relationships/notesMaster" Target="/ppt/notesMasters/notesMaster1.xml" Id="R3d2c610c59f348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97e3fa26e4b45" /><Relationship Type="http://schemas.openxmlformats.org/officeDocument/2006/relationships/notesMaster" Target="/ppt/notesMasters/notesMaster1.xml" Id="R7d593cd6b544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d2da341774e8e" /><Relationship Type="http://schemas.openxmlformats.org/officeDocument/2006/relationships/notesMaster" Target="/ppt/notesMasters/notesMaster1.xml" Id="Rac183f2683b2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ebde3d0414559" /><Relationship Type="http://schemas.openxmlformats.org/officeDocument/2006/relationships/notesMaster" Target="/ppt/notesMasters/notesMaster1.xml" Id="R8a13cc5c6d744c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907431c0d4a3c" /><Relationship Type="http://schemas.openxmlformats.org/officeDocument/2006/relationships/notesMaster" Target="/ppt/notesMasters/notesMaster1.xml" Id="R658e73184c4142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31e8a42f0b421a" /><Relationship Type="http://schemas.openxmlformats.org/officeDocument/2006/relationships/notesMaster" Target="/ppt/notesMasters/notesMaster1.xml" Id="R6c3486786bc84f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5d7fa9e1741f5" /><Relationship Type="http://schemas.openxmlformats.org/officeDocument/2006/relationships/notesMaster" Target="/ppt/notesMasters/notesMaster1.xml" Id="Re23c925e0131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9309a854b47a7" /><Relationship Type="http://schemas.openxmlformats.org/officeDocument/2006/relationships/notesMaster" Target="/ppt/notesMasters/notesMaster1.xml" Id="R490f353c8e564c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e8cf539c664c7f" /><Relationship Type="http://schemas.openxmlformats.org/officeDocument/2006/relationships/notesMaster" Target="/ppt/notesMasters/notesMaster1.xml" Id="R095f9b06e66547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d6677a7f1406f" /><Relationship Type="http://schemas.openxmlformats.org/officeDocument/2006/relationships/notesMaster" Target="/ppt/notesMasters/notesMaster1.xml" Id="R3a3ab82447ca43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ed28a62b97436e" /><Relationship Type="http://schemas.openxmlformats.org/officeDocument/2006/relationships/notesMaster" Target="/ppt/notesMasters/notesMaster1.xml" Id="Ra3aeff75e3034a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b42c7dde8647b0" /><Relationship Type="http://schemas.openxmlformats.org/officeDocument/2006/relationships/notesMaster" Target="/ppt/notesMasters/notesMaster1.xml" Id="Ra40ec9d5794243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5447f4936f4f3b" /><Relationship Type="http://schemas.openxmlformats.org/officeDocument/2006/relationships/notesMaster" Target="/ppt/notesMasters/notesMaster1.xml" Id="R92be9e30eda54e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3b008f921f4bd8" /><Relationship Type="http://schemas.openxmlformats.org/officeDocument/2006/relationships/notesMaster" Target="/ppt/notesMasters/notesMaster1.xml" Id="R82c00c9dd86147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4e4d90fe1b43db" /><Relationship Type="http://schemas.openxmlformats.org/officeDocument/2006/relationships/notesMaster" Target="/ppt/notesMasters/notesMaster1.xml" Id="R354e04d47be24d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24120bd60643b8" /><Relationship Type="http://schemas.openxmlformats.org/officeDocument/2006/relationships/notesMaster" Target="/ppt/notesMasters/notesMaster1.xml" Id="Rcc64869fbffb4c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b86e44ed4e49af" /><Relationship Type="http://schemas.openxmlformats.org/officeDocument/2006/relationships/notesMaster" Target="/ppt/notesMasters/notesMaster1.xml" Id="R101094d78504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场景和2 TOPS估计由用户提供。这里batch指并行处理的人体序列数，不是单条序列的num_person，也不是训练batch=128。目标相当于每100ms处理20人次。单纯TOPS不能直接推算实际延迟。健康监测在此指动作相关风险监测。用户提供的飞书图片当前无法访问，未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章节设置遵循用户提供的大纲。第3章baseline基于已有SkateFormer与prefix multi方案，缩短基础方法介绍，将意图控制与蒸馏作为待验证部分。完整小节在附录。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本页指标来自不同实验，应分别解释。31.32%来自10月12日配对测速，不与dropout最优权重合成已验证的accuracy-latency工作点。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  <a:p xmlns:a="http://schemas.openxmlformats.org/drawingml/2006/main">
            <a:r>
              <a:t>\\wsl.localhost\Ubuntu-22.04\home\sjh\program\skeleton-baed_HAR\experiments\current\inference_20261012\README.md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来源：本仓库 SkateFormer/assets/network.png；SkateFormer 官方实现 https://github.com/KAIST-VICLab/SkateFormer ，ECCV 2024。图保留原始比例。不能表述为分支完全无法互相学习，映射层、输出投影及后续block仍传递信息。四种类型组合了邻近/远距离关节与局部/全局时间关系。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原材料中MLP占70.45% MAC但约5%延迟。Graph Conv为8次小einsum；Temporal Conv groups=8。只呈现可解释的MAC分布，未把来源不一致的单块总耗时拼成一张精确延迟饼图。分区会使有效窗口batch增加，问题应描述为每个矩阵规模小、通道窄和调度碎片化，不能说batch被切小。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关系分量按通道分组；每个分量经过空间与时间聚合，门控后拼回通道，再out_proj。不是两个完整C维输出直接加权求和。R是关系分量数量，并不保证每个注意力矩阵的数学秩等于2。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\\wsl.localhost\Ubuntu-22.04\home\sjh\program\skeleton-baed_HAR\SkateFormer\model\operators\skate_rca_block.py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简写单样本单通道下的矩阵运算。T×A注意力作用于池化后的value。s由softplus学习。复杂度宜按具体张量和算子分析，不能说attention参数指数增长或统一减少7/8计算量。当前可学习图偏置不是人体真实拓扑先验。原设想中的RoPE、显式远近关系先验保留为研究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\\wsl.localhost\Ubuntu-22.04\home\sjh\program\skeleton-baed_HAR\SkateFormer\model\operators\skate_rca_block.py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：(1.5912-1.1795)/1.5912=25.87%；(1.6513-1.1795)/1.6513=28.57%。因此不能写两种对照都降低30%以上。用户贴出的RCA默认FFN=max(1,mlp_ratio*0.5)，而当前整网正式对照显式FFN4。原型未给出完整输入与测试协议，保留为探索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全部为同一bs128训练协议。M1参数3,376,819，B0为3,386,707，减少0.292%。单seed不足以支持显著性结论。A32仅比A16高0.0061个百分点。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每次forward前后同步CUDA，以perf_counter记录包含Python调度的墙钟延迟。FP32 TF32 off，输入(1,3,64,14,1)。每模型预热80次，轮内额外10次，交替测试顺序。FLOPs为profiler支持算子的部分计数，不是完整MAC。均值/尾延迟来自同次实验；不可与10月13日不同运行混用。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\\wsl.localhost\Ubuntu-22.04\home\sjh\program\skeleton-baed_HAR\experiments\current\inference_20261012\README.md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速度数据不能表述为对应checkpoint延迟。16锚点轮均9.61–10.31ms，32锚点9.63–11.45ms，区间重叠；2.34%不是跨设备固定开销。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\\wsl.localhost\Ubuntu-22.04\home\sjh\program\skeleton-baed_HAR\experiments\current\anchors_20261013\README.md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八个block均启用分支。已有前向/反向和零缩放等价性验证，不等于训练完成。默认旧配置关闭该分支。3个模型按全部6种顺序测试，包含Python调度不含骨架提取。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\\wsl.localhost\Ubuntu-22.04\home\sjh\program\skeleton-baed_HAR\experiments\current\localt3_20261013\README.md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为历史归档H1/H2，非2026-10-13新跑结果。prefix_multi六比例Top1为31.88/68.92/85.52/90.17/91.44/91.42，均值76.56。单比例r=.1/.3为27.66/67.04。用户章节3.2少写baseline，3.3聚焦意图分类控制+蒸馏。后续宜对照KD-only与意图+KD，防止将蒸馏单独收益误归因于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\\wsl.localhost\Ubuntu-22.04\home\sjh\program\skeleton-baed_HAR\experiments\archive\early_recognition\H1_prefix-baseline\analysis.md</a:t>
            </a:r>
          </a:p>
          <a:p xmlns:a="http://schemas.openxmlformats.org/drawingml/2006/main">
            <a:r>
              <a:t>\\wsl.localhost\Ubuntu-22.04\home\sjh\program\skeleton-baed_HAR\experiments\archive\early_recognition\H2_single-module-ablation\analysis.md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Beam search信息来自用户提供材料，未独立核验。参考文档：https://ucn5dc94hage.feishu.cn/docx/DdBYdgCupodmrax2rhFcBI41nhc 。其他用户提供链接：骨架模型剪枝 https://ucn5dc94hage.feishu.cn/wiki/V9aSwPFJhivWuckbbeoc5ebznRO ；关节点数量 https://ucn5dc94hage.feishu.cn/docx/J5nxdY0lpoWMl0xnWhdc2o5lnIg ；嵌入式选型 https://ucn5dc94hage.feishu.cn/docx/NiCiduUZ5omrOixR1ZwctP6Pnec 。这些链接的正文未被核验，未补写其中未提供的结果。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实验安排是建议的下一步，不代表已有完成结果。分阶段推进，保持所有比较的输入、精度模式、计时范围和模型版本一致。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大纲按用户提供内容整理。第3章标题不等于意图控制方案效果已得到证实，实验中应保留负结果。蒸馏参考链接：https://ucn5dc94hage.feishu.cn/wiki/CvMew7uhIi8zrJksfdJcE9uAnAg ，正文当前未读取。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大纲按用户原文保留。5.2重点是上游骨架提取模型，5.3可区分动作识别模型压缩与上游姿态模型压缩。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[B,C,64,14]重排为[B,C,8,8,2,7]，再变为[B,8,2,8,7,C]，最后[B×16,56,C]。这里实际QKV分区通道为3C/8=72。Type1连续时间0–7，Type3稀疏时间0,8,16,...,56。远近关节由预先排列的拓扑顺序定义，不是任意连续编号。资料来源为用户提供的分区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99126f0964e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30089227742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2c5dded9b45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9c45cedef42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d3633bd944c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e02b7131d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22619E-F73D-463E-BE01-16FFA8350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B9AC5C-6383-4E5F-B19B-DD0E4D4D06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5C392B-7B60-45DC-BC0C-73A518E22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393530-89EC-438E-A5B3-3FD7C3C60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D80F5E-ED93-49EB-AA06-03D58C8D2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D567BF-5D30-4689-B310-BD4645BF2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634F25-F05D-496E-BFAC-2DEF5B169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8074DA-1C38-471A-92B7-73415E07AB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B3DB4A-E02E-48A4-8A4E-1CFC41404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349C75-1859-40AB-827C-A7237238B0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9cdc1677c440f" /><Relationship Type="http://schemas.openxmlformats.org/officeDocument/2006/relationships/slideLayout" Target="/ppt/slideLayouts/slideLayout1.xml" Id="Rc583287146c64cac" /><Relationship Type="http://schemas.openxmlformats.org/officeDocument/2006/relationships/slideLayout" Target="/ppt/slideLayouts/slideLayout2.xml" Id="R2703aac889744803" /><Relationship Type="http://schemas.openxmlformats.org/officeDocument/2006/relationships/slideLayout" Target="/ppt/slideLayouts/slideLayout3.xml" Id="R55d22a4547f9421f" /><Relationship Type="http://schemas.openxmlformats.org/officeDocument/2006/relationships/slideLayout" Target="/ppt/slideLayouts/slideLayout4.xml" Id="R9ad861dc911e4ab5" /><Relationship Type="http://schemas.openxmlformats.org/officeDocument/2006/relationships/slideLayout" Target="/ppt/slideLayouts/slideLayout5.xml" Id="R10e9fad681e94a65" /><Relationship Type="http://schemas.openxmlformats.org/officeDocument/2006/relationships/slideLayout" Target="/ppt/slideLayouts/slideLayout6.xml" Id="R2b806fff7cbb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3287146c64cac"/>
    <p:sldLayoutId xmlns:r="http://schemas.openxmlformats.org/officeDocument/2006/relationships" id="2147483650" r:id="R2703aac889744803"/>
    <p:sldLayoutId xmlns:r="http://schemas.openxmlformats.org/officeDocument/2006/relationships" id="2147483651" r:id="R55d22a4547f9421f"/>
    <p:sldLayoutId xmlns:r="http://schemas.openxmlformats.org/officeDocument/2006/relationships" id="2147483652" r:id="R9ad861dc911e4ab5"/>
    <p:sldLayoutId xmlns:r="http://schemas.openxmlformats.org/officeDocument/2006/relationships" id="2147483653" r:id="R10e9fad681e94a65"/>
    <p:sldLayoutId xmlns:r="http://schemas.openxmlformats.org/officeDocument/2006/relationships" id="2147483654" r:id="R2b806fff7cbb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5ae504bb94237" /><Relationship Type="http://schemas.openxmlformats.org/officeDocument/2006/relationships/notesSlide" Target="/ppt/notesSlides/notesSlide1.xml" Id="Ra6566c8a3246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834ea3a1e4b39" /><Relationship Type="http://schemas.openxmlformats.org/officeDocument/2006/relationships/notesSlide" Target="/ppt/notesSlides/notesSlide2.xml" Id="Rdd688efd6f8f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329992f8f453c" /><Relationship Type="http://schemas.openxmlformats.org/officeDocument/2006/relationships/notesSlide" Target="/ppt/notesSlides/notesSlide3.xml" Id="R1ddd7994500e4c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98c4c73674563" /><Relationship Type="http://schemas.openxmlformats.org/officeDocument/2006/relationships/image" Target="/ppt/media/image.png" Id="R4024b372c7c64a57" /><Relationship Type="http://schemas.openxmlformats.org/officeDocument/2006/relationships/notesSlide" Target="/ppt/notesSlides/notesSlide4.xml" Id="R08175acab7c645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6e4436ebb4c40" /><Relationship Type="http://schemas.openxmlformats.org/officeDocument/2006/relationships/notesSlide" Target="/ppt/notesSlides/notesSlide5.xml" Id="Re39919cea36e41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580cc5ddc4f41" /><Relationship Type="http://schemas.openxmlformats.org/officeDocument/2006/relationships/notesSlide" Target="/ppt/notesSlides/notesSlide6.xml" Id="R9df80d92db7a46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40ff4fa804c1a" /><Relationship Type="http://schemas.openxmlformats.org/officeDocument/2006/relationships/notesSlide" Target="/ppt/notesSlides/notesSlide7.xml" Id="R4300765620d14e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0b817dc8f462b" /><Relationship Type="http://schemas.openxmlformats.org/officeDocument/2006/relationships/notesSlide" Target="/ppt/notesSlides/notesSlide8.xml" Id="R8bbeef1157b847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2948e9cd74bce" /><Relationship Type="http://schemas.openxmlformats.org/officeDocument/2006/relationships/notesSlide" Target="/ppt/notesSlides/notesSlide9.xml" Id="R157506920c4f4c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77d26540f4f73" /><Relationship Type="http://schemas.openxmlformats.org/officeDocument/2006/relationships/chart" Target="/ppt/slides/charts/chart1.xml" Id="R9960730344434754" /><Relationship Type="http://schemas.openxmlformats.org/officeDocument/2006/relationships/notesSlide" Target="/ppt/notesSlides/notesSlide10.xml" Id="R77584e2df9db4f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559a496ca41fe" /><Relationship Type="http://schemas.openxmlformats.org/officeDocument/2006/relationships/notesSlide" Target="/ppt/notesSlides/notesSlide11.xml" Id="R11cace0078764e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c6c8c01824c2c" /><Relationship Type="http://schemas.openxmlformats.org/officeDocument/2006/relationships/notesSlide" Target="/ppt/notesSlides/notesSlide12.xml" Id="Rb803e886c87c49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c2dca9c7846a0" /><Relationship Type="http://schemas.openxmlformats.org/officeDocument/2006/relationships/notesSlide" Target="/ppt/notesSlides/notesSlide13.xml" Id="Rd7c99338367f41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ba182175df4d6e" /><Relationship Type="http://schemas.openxmlformats.org/officeDocument/2006/relationships/notesSlide" Target="/ppt/notesSlides/notesSlide14.xml" Id="R339f70a997c746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356e2b5734047" /><Relationship Type="http://schemas.openxmlformats.org/officeDocument/2006/relationships/notesSlide" Target="/ppt/notesSlides/notesSlide15.xml" Id="R9b237d95e2514d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7664310ae474f" /><Relationship Type="http://schemas.openxmlformats.org/officeDocument/2006/relationships/notesSlide" Target="/ppt/notesSlides/notesSlide16.xml" Id="R593bb289452147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9ee69f6484f14" /><Relationship Type="http://schemas.openxmlformats.org/officeDocument/2006/relationships/notesSlide" Target="/ppt/notesSlides/notesSlide17.xml" Id="R13b13c3e247647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242ad46204215" /><Relationship Type="http://schemas.openxmlformats.org/officeDocument/2006/relationships/notesSlide" Target="/ppt/notesSlides/notesSlide18.xml" Id="R084820c4f86b41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</c:v>
          </c:tx>
          <c:spPr>
            <a:solidFill xmlns:a="http://schemas.openxmlformats.org/drawingml/2006/main">
              <a:srgbClr val="155D9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B0</c:v>
                </c:pt>
                <c:pt idx="1">
                  <c:v>RCA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17.0278</c:v>
                </c:pt>
                <c:pt idx="1">
                  <c:v>11.6941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7CAFC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B0</c:v>
                </c:pt>
                <c:pt idx="1">
                  <c:v>RCA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20.4687</c:v>
                </c:pt>
                <c:pt idx="1">
                  <c:v>14.9192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5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推理耗时 / ms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6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面向多场景多目标的实时嵌入式健康监测系统">
            <a:extLst xmlns:a="http://schemas.openxmlformats.org/drawingml/2006/main">
              <a:ext uri="{FF2B5EF4-FFF2-40B4-BE49-F238E27FC236}">
                <a16:creationId xmlns:a16="http://schemas.microsoft.com/office/drawing/2014/main" id="{247218CE-80F3-44BA-BB1A-3107F99B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面向多场景多目标的实时嵌入式健康监测系统</a:t>
            </a:r>
          </a:p>
        </p:txBody>
      </p:sp>
      <p:sp>
        <p:nvSpPr>
          <p:cNvPr id="2" name="研究背景与目标">
            <a:extLst xmlns:a="http://schemas.openxmlformats.org/drawingml/2006/main">
              <a:ext uri="{FF2B5EF4-FFF2-40B4-BE49-F238E27FC236}">
                <a16:creationId xmlns:a16="http://schemas.microsoft.com/office/drawing/2014/main" id="{C502F49F-B2C4-4136-89D8-AFF7E485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研究背景与目标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9C218C0-69BA-4BFF-9E64-043310F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疗养院、老年公寓与社区">
            <a:extLst xmlns:a="http://schemas.openxmlformats.org/drawingml/2006/main">
              <a:ext uri="{FF2B5EF4-FFF2-40B4-BE49-F238E27FC236}">
                <a16:creationId xmlns:a16="http://schemas.microsoft.com/office/drawing/2014/main" id="{37DB40B0-6CA6-459E-9AEB-11661801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疗养院、老年公寓与社区</a:t>
            </a:r>
          </a:p>
        </p:txBody>
      </p:sp>
      <p:sp>
        <p:nvSpPr>
          <p:cNvPr id="5" name="同时监测多人的动作状态，在高危动作出现时及时预警。">
            <a:extLst xmlns:a="http://schemas.openxmlformats.org/drawingml/2006/main">
              <a:ext uri="{FF2B5EF4-FFF2-40B4-BE49-F238E27FC236}">
                <a16:creationId xmlns:a16="http://schemas.microsoft.com/office/drawing/2014/main" id="{3D36884C-384D-4C89-89FA-002A7AE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同时监测多人的动作状态，在高危动作出现时及时预警。</a:t>
            </a:r>
          </a:p>
        </p:txBody>
      </p:sp>
      <p:sp>
        <p:nvSpPr>
          <p:cNvPr id="6" name="现有瓶颈">
            <a:extLst xmlns:a="http://schemas.openxmlformats.org/drawingml/2006/main">
              <a:ext uri="{FF2B5EF4-FFF2-40B4-BE49-F238E27FC236}">
                <a16:creationId xmlns:a16="http://schemas.microsoft.com/office/drawing/2014/main" id="{9C87CDDB-4FE9-4EE2-A65C-10A3AABF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现有瓶颈</a:t>
            </a:r>
          </a:p>
        </p:txBody>
      </p:sp>
      <p:sp>
        <p:nvSpPr>
          <p:cNvPr id="7" name="推理延迟影响预警时效&#10;计算开销限制设备成本与监测规模">
            <a:extLst xmlns:a="http://schemas.openxmlformats.org/drawingml/2006/main">
              <a:ext uri="{FF2B5EF4-FFF2-40B4-BE49-F238E27FC236}">
                <a16:creationId xmlns:a16="http://schemas.microsoft.com/office/drawing/2014/main" id="{A2630799-F372-469D-BD97-9531B584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推理延迟影响预警时效</a:t>
            </a:r>
          </a:p>
          <a:p xmlns:a="http://schemas.openxmlformats.org/drawingml/2006/main">
            <a:pPr>
              <a:def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计算开销限制设备成本与监测规模</a:t>
            </a:r>
          </a:p>
        </p:txBody>
      </p:sp>
      <p:sp>
        <p:nvSpPr>
          <p:cNvPr id="8" name="20 人">
            <a:extLst xmlns:a="http://schemas.openxmlformats.org/drawingml/2006/main">
              <a:ext uri="{FF2B5EF4-FFF2-40B4-BE49-F238E27FC236}">
                <a16:creationId xmlns:a16="http://schemas.microsoft.com/office/drawing/2014/main" id="{14801A53-E692-47A4-941F-3C56FDD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24050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rPr>
              <a:t>20 人</a:t>
            </a:r>
          </a:p>
        </p:txBody>
      </p:sp>
      <p:sp>
        <p:nvSpPr>
          <p:cNvPr id="9" name="目标并发规模">
            <a:extLst xmlns:a="http://schemas.openxmlformats.org/drawingml/2006/main">
              <a:ext uri="{FF2B5EF4-FFF2-40B4-BE49-F238E27FC236}">
                <a16:creationId xmlns:a16="http://schemas.microsoft.com/office/drawing/2014/main" id="{BD9DECB0-4BD1-4A80-88E5-AE658058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860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目标并发规模</a:t>
            </a:r>
          </a:p>
        </p:txBody>
      </p:sp>
      <p:sp>
        <p:nvSpPr>
          <p:cNvPr id="10" name="≤100 ms">
            <a:extLst xmlns:a="http://schemas.openxmlformats.org/drawingml/2006/main">
              <a:ext uri="{FF2B5EF4-FFF2-40B4-BE49-F238E27FC236}">
                <a16:creationId xmlns:a16="http://schemas.microsoft.com/office/drawing/2014/main" id="{187BFE33-4838-4468-9955-7B33BFD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004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rPr>
              <a:t>≤100 ms</a:t>
            </a:r>
          </a:p>
        </p:txBody>
      </p:sp>
      <p:sp>
        <p:nvSpPr>
          <p:cNvPr id="11" name="目标分类推理耗时">
            <a:extLst xmlns:a="http://schemas.openxmlformats.org/drawingml/2006/main">
              <a:ext uri="{FF2B5EF4-FFF2-40B4-BE49-F238E27FC236}">
                <a16:creationId xmlns:a16="http://schemas.microsoft.com/office/drawing/2014/main" id="{E2713070-D9CC-4CE3-9CD9-E77D874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434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目标分类推理耗时</a:t>
            </a:r>
          </a:p>
        </p:txBody>
      </p:sp>
      <p:sp>
        <p:nvSpPr>
          <p:cNvPr id="12" name="2 TOPS 设备：现状估计 batch=5 时超过 100 m">
            <a:extLst xmlns:a="http://schemas.openxmlformats.org/drawingml/2006/main">
              <a:ext uri="{FF2B5EF4-FFF2-40B4-BE49-F238E27FC236}">
                <a16:creationId xmlns:a16="http://schemas.microsoft.com/office/drawing/2014/main" id="{ABC77626-C3D1-4517-B2D2-9231349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2 TOPS 设备：现状估计 batch=5 时超过 100 ms，目标 batch=20 时维持 100 ms。</a:t>
            </a:r>
          </a:p>
          <a:p xmlns:a="http://schemas.openxmlformats.org/drawingml/2006/main">
            <a:pPr>
              <a:defRPr sz="1500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上述为项目估计与目标，尚未完成端侧实测。模型耗时之外还需核算骨架提取与排队。</a:t>
            </a:r>
          </a:p>
        </p:txBody>
      </p:sp>
    </p:spTree>
    <p:extLst>
      <p:ext uri="{BB962C8B-B14F-4D97-AF65-F5344CB8AC3E}">
        <p14:creationId xmlns:p14="http://schemas.microsoft.com/office/powerpoint/2010/main" val="252158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论文整体结构">
            <a:extLst xmlns:a="http://schemas.openxmlformats.org/drawingml/2006/main">
              <a:ext uri="{FF2B5EF4-FFF2-40B4-BE49-F238E27FC236}">
                <a16:creationId xmlns:a16="http://schemas.microsoft.com/office/drawing/2014/main" id="{77D25B5E-6527-4930-B915-E50D3FC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论文整体结构</a:t>
            </a:r>
          </a:p>
        </p:txBody>
      </p:sp>
      <p:sp>
        <p:nvSpPr>
          <p:cNvPr id="2" name="围绕动作识别精度、早期预警与嵌入式实时性展开">
            <a:extLst xmlns:a="http://schemas.openxmlformats.org/drawingml/2006/main">
              <a:ext uri="{FF2B5EF4-FFF2-40B4-BE49-F238E27FC236}">
                <a16:creationId xmlns:a16="http://schemas.microsoft.com/office/drawing/2014/main" id="{31216684-B464-4F55-95FA-C99176F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围绕动作识别精度、早期预警与嵌入式实时性展开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BBD07E1C-094A-4B34-8961-ADD9D674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12A8C-616A-433F-99EF-CC668CFC7A88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26860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对应问题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第1章  绪论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研究目的与意义、研究现状、章节安排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第2章  Skate-RCA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算法总览、模块设计、效果与消融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如何降低模型延迟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第3章  意图控制的早期识别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prefix_multi 基线、意图控制、蒸馏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如何更早识别动作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第4章  Skate-RCA 算子优化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算子总览、性能分析、优化实现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如何提高执行效率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第5章  高实时性视觉识别系统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骨架模型优化、剪枝量化、端侧部署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如何实现多人监测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完整小节目录见附录。第3章为历史研究基础与后续计划，第2章为当前">
            <a:extLst xmlns:a="http://schemas.openxmlformats.org/drawingml/2006/main">
              <a:ext uri="{FF2B5EF4-FFF2-40B4-BE49-F238E27FC236}">
                <a16:creationId xmlns:a16="http://schemas.microsoft.com/office/drawing/2014/main" id="{72D218A5-929F-4107-B864-E91F6743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完整小节目录见附录。第3章为历史研究基础与后续计划，第2章为当前主要实验方向。</a:t>
            </a:r>
          </a:p>
        </p:txBody>
      </p:sp>
    </p:spTree>
    <p:extLst>
      <p:ext uri="{BB962C8B-B14F-4D97-AF65-F5344CB8AC3E}">
        <p14:creationId xmlns:p14="http://schemas.microsoft.com/office/powerpoint/2010/main" val="373280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算法进展概览">
            <a:extLst xmlns:a="http://schemas.openxmlformats.org/drawingml/2006/main">
              <a:ext uri="{FF2B5EF4-FFF2-40B4-BE49-F238E27FC236}">
                <a16:creationId xmlns:a16="http://schemas.microsoft.com/office/drawing/2014/main" id="{7A4E5E61-9D58-4950-8BD2-2F04157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算法进展概览</a:t>
            </a:r>
          </a:p>
        </p:txBody>
      </p:sp>
      <p:sp>
        <p:nvSpPr>
          <p:cNvPr id="2" name="当前主线：Skate-RCA 的结构加速与精度恢复">
            <a:extLst xmlns:a="http://schemas.openxmlformats.org/drawingml/2006/main">
              <a:ext uri="{FF2B5EF4-FFF2-40B4-BE49-F238E27FC236}">
                <a16:creationId xmlns:a16="http://schemas.microsoft.com/office/drawing/2014/main" id="{CE1E2D68-DA17-4E29-94BF-96591E0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当前主线：Skate-RCA 的结构加速与精度恢复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C8DAC875-C7EF-4E31-8DCD-D2D5E6D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结构加速">
            <a:extLst xmlns:a="http://schemas.openxmlformats.org/drawingml/2006/main">
              <a:ext uri="{FF2B5EF4-FFF2-40B4-BE49-F238E27FC236}">
                <a16:creationId xmlns:a16="http://schemas.microsoft.com/office/drawing/2014/main" id="{9C73C24B-0FFC-4D82-94AD-0E53A122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结构加速</a:t>
            </a:r>
          </a:p>
        </p:txBody>
      </p:sp>
      <p:sp>
        <p:nvSpPr>
          <p:cNvPr id="5" name="31.32%">
            <a:extLst xmlns:a="http://schemas.openxmlformats.org/drawingml/2006/main">
              <a:ext uri="{FF2B5EF4-FFF2-40B4-BE49-F238E27FC236}">
                <a16:creationId xmlns:a16="http://schemas.microsoft.com/office/drawing/2014/main" id="{AE0FA93D-98E6-4971-94B1-C2467A82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8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9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31.32%</a:t>
            </a:r>
          </a:p>
        </p:txBody>
      </p:sp>
      <p:sp>
        <p:nvSpPr>
          <p:cNvPr id="6" name="整网平均推理延迟下降&#10;17.028 ms 降至 11.694 m">
            <a:extLst xmlns:a="http://schemas.openxmlformats.org/drawingml/2006/main">
              <a:ext uri="{FF2B5EF4-FFF2-40B4-BE49-F238E27FC236}">
                <a16:creationId xmlns:a16="http://schemas.microsoft.com/office/drawing/2014/main" id="{44261A7A-1F38-402F-B5EA-8C21937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295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整网平均推理延迟下降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17.028 ms 降至 11.694 ms</a:t>
            </a:r>
          </a:p>
        </p:txBody>
      </p:sp>
      <p:sp>
        <p:nvSpPr>
          <p:cNvPr id="7" name="训练精度">
            <a:extLst xmlns:a="http://schemas.openxmlformats.org/drawingml/2006/main">
              <a:ext uri="{FF2B5EF4-FFF2-40B4-BE49-F238E27FC236}">
                <a16:creationId xmlns:a16="http://schemas.microsoft.com/office/drawing/2014/main" id="{4D471C01-9584-4312-B534-DC16573B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训练精度</a:t>
            </a:r>
          </a:p>
        </p:txBody>
      </p:sp>
      <p:sp>
        <p:nvSpPr>
          <p:cNvPr id="8" name="88.6092%">
            <a:extLst xmlns:a="http://schemas.openxmlformats.org/drawingml/2006/main">
              <a:ext uri="{FF2B5EF4-FFF2-40B4-BE49-F238E27FC236}">
                <a16:creationId xmlns:a16="http://schemas.microsoft.com/office/drawing/2014/main" id="{333324D6-8575-44FC-B6DE-25B4B84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3175"/>
            <a:ext cx="3571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5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88.6092%</a:t>
            </a:r>
          </a:p>
        </p:txBody>
      </p:sp>
      <p:sp>
        <p:nvSpPr>
          <p:cNvPr id="9" name="RCA + attn_drop=0.1&#10;距 B0 基线低 0.3">
            <a:extLst xmlns:a="http://schemas.openxmlformats.org/drawingml/2006/main">
              <a:ext uri="{FF2B5EF4-FFF2-40B4-BE49-F238E27FC236}">
                <a16:creationId xmlns:a16="http://schemas.microsoft.com/office/drawing/2014/main" id="{42E81369-86EE-4550-BC0B-3BE9E8F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RCA + attn_drop=0.1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距 B0 基线低 0.3215 个百分点</a:t>
            </a:r>
          </a:p>
        </p:txBody>
      </p:sp>
      <p:sp>
        <p:nvSpPr>
          <p:cNvPr id="10" name="近期消融">
            <a:extLst xmlns:a="http://schemas.openxmlformats.org/drawingml/2006/main">
              <a:ext uri="{FF2B5EF4-FFF2-40B4-BE49-F238E27FC236}">
                <a16:creationId xmlns:a16="http://schemas.microsoft.com/office/drawing/2014/main" id="{8EA34171-525C-469C-B0F8-9EC1FF67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近期消融</a:t>
            </a:r>
          </a:p>
        </p:txBody>
      </p:sp>
      <p:sp>
        <p:nvSpPr>
          <p:cNvPr id="11" name="A16 / LocalT3">
            <a:extLst xmlns:a="http://schemas.openxmlformats.org/drawingml/2006/main">
              <a:ext uri="{FF2B5EF4-FFF2-40B4-BE49-F238E27FC236}">
                <a16:creationId xmlns:a16="http://schemas.microsoft.com/office/drawing/2014/main" id="{DEDBBCE7-C138-401E-A78D-95B31C4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A16 / LocalT3</a:t>
            </a:r>
          </a:p>
        </p:txBody>
      </p:sp>
      <p:sp>
        <p:nvSpPr>
          <p:cNvPr id="12" name="A32 精度与 A16 基本持平&#10;LocalT3 已测速，尚未训">
            <a:extLst xmlns:a="http://schemas.openxmlformats.org/drawingml/2006/main">
              <a:ext uri="{FF2B5EF4-FFF2-40B4-BE49-F238E27FC236}">
                <a16:creationId xmlns:a16="http://schemas.microsoft.com/office/drawing/2014/main" id="{CA43ED84-C1A2-45CA-8F46-E3B4D13F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A32 精度与 A16 基本持平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LocalT3 已测速，尚未训练</a:t>
            </a:r>
          </a:p>
        </p:txBody>
      </p:sp>
      <p:sp>
        <p:nvSpPr>
          <p:cNvPr id="13" name="当前已有加速证据，精度恢复与端侧多人验证仍是重点">
            <a:extLst xmlns:a="http://schemas.openxmlformats.org/drawingml/2006/main">
              <a:ext uri="{FF2B5EF4-FFF2-40B4-BE49-F238E27FC236}">
                <a16:creationId xmlns:a16="http://schemas.microsoft.com/office/drawing/2014/main" id="{676DA995-D8B9-425C-B8F7-A2D14BE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当前已有加速证据，精度恢复与端侧多人验证仍是重点</a:t>
            </a:r>
          </a:p>
        </p:txBody>
      </p:sp>
      <p:sp>
        <p:nvSpPr>
          <p:cNvPr id="14" name="记录截至 2026-10-13。速度为随机权重结构测速；精度为用">
            <a:extLst xmlns:a="http://schemas.openxmlformats.org/drawingml/2006/main">
              <a:ext uri="{FF2B5EF4-FFF2-40B4-BE49-F238E27FC236}">
                <a16:creationId xmlns:a16="http://schemas.microsoft.com/office/drawing/2014/main" id="{23957227-5FA0-4E97-8E36-8AC374CA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记录截至 2026-10-13。速度为随机权重结构测速；精度为用户训练日志，最佳 checkpoint 尚未独立核验。</a:t>
            </a:r>
          </a:p>
        </p:txBody>
      </p:sp>
    </p:spTree>
    <p:extLst>
      <p:ext uri="{BB962C8B-B14F-4D97-AF65-F5344CB8AC3E}">
        <p14:creationId xmlns:p14="http://schemas.microsoft.com/office/powerpoint/2010/main" val="243572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kateFormer 的六路特征处理">
            <a:extLst xmlns:a="http://schemas.openxmlformats.org/drawingml/2006/main">
              <a:ext uri="{FF2B5EF4-FFF2-40B4-BE49-F238E27FC236}">
                <a16:creationId xmlns:a16="http://schemas.microsoft.com/office/drawing/2014/main" id="{132C4CA1-3341-44EF-A54A-210497A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SkateFormer 的六路特征处理</a:t>
            </a:r>
          </a:p>
        </p:txBody>
      </p:sp>
      <p:sp>
        <p:nvSpPr>
          <p:cNvPr id="2" name="四类时空分区注意力与 G-Conv、T-Conv 并行计算">
            <a:extLst xmlns:a="http://schemas.openxmlformats.org/drawingml/2006/main">
              <a:ext uri="{FF2B5EF4-FFF2-40B4-BE49-F238E27FC236}">
                <a16:creationId xmlns:a16="http://schemas.microsoft.com/office/drawing/2014/main" id="{31E4047F-3407-4F39-9EC0-4D4CB562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四类时空分区注意力与 G-Conv、T-Conv 并行计算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9C3D8C3-1339-4AC3-B9B2-E29D71E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C800D-3CBC-4349-86FD-DB0D1563E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4b372c7c64a57"/>
          <a:stretch xmlns:a="http://schemas.openxmlformats.org/drawingml/2006/main"/>
        </p:blipFill>
        <p:spPr>
          <a:xfrm xmlns:a="http://schemas.openxmlformats.org/drawingml/2006/main">
            <a:off x="1908483" y="1762125"/>
            <a:ext cx="8375034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各分支先独立聚合，再通过拼接与投影交互。低关节数、小 batch">
            <a:extLst xmlns:a="http://schemas.openxmlformats.org/drawingml/2006/main">
              <a:ext uri="{FF2B5EF4-FFF2-40B4-BE49-F238E27FC236}">
                <a16:creationId xmlns:a16="http://schemas.microsoft.com/office/drawing/2014/main" id="{7FE11421-A0B6-429E-BA9B-B8C830F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各分支先独立聚合，再通过拼接与投影交互。低关节数、小 batch 下的执行效率是当前优化重点。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889313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计算量占比与实际耗时并不一致">
            <a:extLst xmlns:a="http://schemas.openxmlformats.org/drawingml/2006/main">
              <a:ext uri="{FF2B5EF4-FFF2-40B4-BE49-F238E27FC236}">
                <a16:creationId xmlns:a16="http://schemas.microsoft.com/office/drawing/2014/main" id="{5F0B2EB6-3D87-4A14-8E97-4E655740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计算量占比与实际耗时并不一致</a:t>
            </a:r>
          </a:p>
        </p:txBody>
      </p:sp>
      <p:sp>
        <p:nvSpPr>
          <p:cNvPr id="2" name="已有单块分析提示：低计算量分支仍可能成为主要延迟来源">
            <a:extLst xmlns:a="http://schemas.openxmlformats.org/drawingml/2006/main">
              <a:ext uri="{FF2B5EF4-FFF2-40B4-BE49-F238E27FC236}">
                <a16:creationId xmlns:a16="http://schemas.microsoft.com/office/drawing/2014/main" id="{AED4A8A6-07CE-4EC7-86AB-42267427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已有单块分析提示：低计算量分支仍可能成为主要延迟来源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8881571-86FD-462A-8523-D8D5A08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89810-7545-4AE6-8289-53EF4DB88AC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714500"/>
                <a:gridCol w="5781675"/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 占比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当前实现的关注点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大矩阵乘法，GPU 执行效率较高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mapping + projection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通道投影与数据布局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四路 attention 的 QK / AV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小矩阵、分区与还原开销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Conv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小通道分组卷积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 Conv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分组小 einsum 与拼接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优化重点：减少细碎算子与数据重排，保留有效通道建模能力">
            <a:extLst xmlns:a="http://schemas.openxmlformats.org/drawingml/2006/main">
              <a:ext uri="{FF2B5EF4-FFF2-40B4-BE49-F238E27FC236}">
                <a16:creationId xmlns:a16="http://schemas.microsoft.com/office/drawing/2014/main" id="{79E95933-59FF-4E92-9303-B283D6A1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优化重点：减少细碎算子与数据重排，保留有效通道建模能力</a:t>
            </a:r>
          </a:p>
        </p:txBody>
      </p:sp>
      <p:sp>
        <p:nvSpPr>
          <p:cNvPr id="6" name="占比来自提供的旧单块分析，非本次新测；MAC 占比不能直接替代延">
            <a:extLst xmlns:a="http://schemas.openxmlformats.org/drawingml/2006/main">
              <a:ext uri="{FF2B5EF4-FFF2-40B4-BE49-F238E27FC236}">
                <a16:creationId xmlns:a16="http://schemas.microsoft.com/office/drawing/2014/main" id="{C95A9D17-5091-43B0-8821-6A93015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占比来自提供的旧单块分析，非本次新测；MAC 占比不能直接替代延迟占比或整网 FLOPs。</a:t>
            </a:r>
          </a:p>
        </p:txBody>
      </p:sp>
    </p:spTree>
    <p:extLst>
      <p:ext uri="{BB962C8B-B14F-4D97-AF65-F5344CB8AC3E}">
        <p14:creationId xmlns:p14="http://schemas.microsoft.com/office/powerpoint/2010/main" val="1840223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kate-RCA 模块设计">
            <a:extLst xmlns:a="http://schemas.openxmlformats.org/drawingml/2006/main">
              <a:ext uri="{FF2B5EF4-FFF2-40B4-BE49-F238E27FC236}">
                <a16:creationId xmlns:a16="http://schemas.microsoft.com/office/drawing/2014/main" id="{AC2297E8-75CD-4A97-B913-74B1312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Skate-RCA 模块设计</a:t>
            </a:r>
          </a:p>
        </p:txBody>
      </p:sp>
      <p:sp>
        <p:nvSpPr>
          <p:cNvPr id="2" name="共享 Value，在统一路径内组合空间关系与时间关系">
            <a:extLst xmlns:a="http://schemas.openxmlformats.org/drawingml/2006/main">
              <a:ext uri="{FF2B5EF4-FFF2-40B4-BE49-F238E27FC236}">
                <a16:creationId xmlns:a16="http://schemas.microsoft.com/office/drawing/2014/main" id="{5391A56A-29E1-49CD-8DE2-08EE7874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共享 Value，在统一路径内组合空间关系与时间关系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3E92233-76B4-442F-8666-1CDDA6F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8FAE-C732-433A-B598-A9FBC6390EE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572125"/>
                <a:gridCol w="3019425"/>
              </a:tblGrid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特征投影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LayerNorm + 共享 Value 投影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各关系分量共用投影入口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空间关系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时间均值聚合，生成 Aₛ [B,R,V,V]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学习动态关节关系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时间关系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关节均值聚合，生成 Aₜ [B,R,T,A]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A 个锚点汇聚时间信息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关系组合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空间聚合 + 锚点池化 + 时间聚合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避免完整 TV × TV 注意力图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输出融合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分量门控、通道合并、投影、残差与 FFN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输入自适应融合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默认 R=2、A=16、qk_ratio=0.25。当前主对照显">
            <a:extLst xmlns:a="http://schemas.openxmlformats.org/drawingml/2006/main">
              <a:ext uri="{FF2B5EF4-FFF2-40B4-BE49-F238E27FC236}">
                <a16:creationId xmlns:a16="http://schemas.microsoft.com/office/drawing/2014/main" id="{13D22A61-526D-45F1-8DDA-D5C9AB8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默认 R=2、A=16、qk_ratio=0.25。当前主对照显式设置 FFN=4，与 B0 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2109164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空间与时间关系的实现细节">
            <a:extLst xmlns:a="http://schemas.openxmlformats.org/drawingml/2006/main">
              <a:ext uri="{FF2B5EF4-FFF2-40B4-BE49-F238E27FC236}">
                <a16:creationId xmlns:a16="http://schemas.microsoft.com/office/drawing/2014/main" id="{90478FDA-128C-4FA5-A9AE-C549A1C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空间与时间关系的实现细节</a:t>
            </a:r>
          </a:p>
        </p:txBody>
      </p:sp>
      <p:sp>
        <p:nvSpPr>
          <p:cNvPr id="2" name="池化降低关系生成成本，锚点限制时间注意力规模">
            <a:extLst xmlns:a="http://schemas.openxmlformats.org/drawingml/2006/main">
              <a:ext uri="{FF2B5EF4-FFF2-40B4-BE49-F238E27FC236}">
                <a16:creationId xmlns:a16="http://schemas.microsoft.com/office/drawing/2014/main" id="{DBDAFD68-50DA-40E4-91F2-8E5BAE52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池化降低关系生成成本，锚点限制时间注意力规模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5857936-3610-4D51-AE2D-B976FE13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空间关系">
            <a:extLst xmlns:a="http://schemas.openxmlformats.org/drawingml/2006/main">
              <a:ext uri="{FF2B5EF4-FFF2-40B4-BE49-F238E27FC236}">
                <a16:creationId xmlns:a16="http://schemas.microsoft.com/office/drawing/2014/main" id="{7B11CD99-94CE-4E2D-A858-D6435EEB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空间关系</a:t>
            </a:r>
          </a:p>
        </p:txBody>
      </p:sp>
      <p:sp>
        <p:nvSpPr>
          <p:cNvPr id="5" name="Xₛ = Meanₜ(X)&#10;Aₛ = Softmax(QₛKₛᵀ">
            <a:extLst xmlns:a="http://schemas.openxmlformats.org/drawingml/2006/main">
              <a:ext uri="{FF2B5EF4-FFF2-40B4-BE49-F238E27FC236}">
                <a16:creationId xmlns:a16="http://schemas.microsoft.com/office/drawing/2014/main" id="{84E41380-5C57-406F-A435-9E98C8E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57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Xₛ = Meanₜ(X)</a:t>
            </a:r>
          </a:p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Aₛ = Softmax(QₛKₛᵀ / √d + sG)</a:t>
            </a:r>
          </a:p>
        </p:txBody>
      </p:sp>
      <p:sp>
        <p:nvSpPr>
          <p:cNvPr id="6" name="每个关系分量使用 V × V 关系图&#10;G 初始化为 0.5I 加">
            <a:extLst xmlns:a="http://schemas.openxmlformats.org/drawingml/2006/main">
              <a:ext uri="{FF2B5EF4-FFF2-40B4-BE49-F238E27FC236}">
                <a16:creationId xmlns:a16="http://schemas.microsoft.com/office/drawing/2014/main" id="{CBC423E5-897C-4612-ACEF-D658649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91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每个关系分量使用 V × V 关系图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G 初始化为 0.5I 加随机扰动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当前并未注入真实人体邻接拓扑</a:t>
            </a:r>
          </a:p>
        </p:txBody>
      </p:sp>
      <p:sp>
        <p:nvSpPr>
          <p:cNvPr id="7" name="时间关系">
            <a:extLst xmlns:a="http://schemas.openxmlformats.org/drawingml/2006/main">
              <a:ext uri="{FF2B5EF4-FFF2-40B4-BE49-F238E27FC236}">
                <a16:creationId xmlns:a16="http://schemas.microsoft.com/office/drawing/2014/main" id="{8615728B-FE7A-4422-BA0D-83C8FEA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时间关系</a:t>
            </a:r>
          </a:p>
        </p:txBody>
      </p:sp>
      <p:sp>
        <p:nvSpPr>
          <p:cNvPr id="8" name="Kₜ 来自 A 个池化锚点&#10;Aₜ = Softmax(QₜKₜᵀ">
            <a:extLst xmlns:a="http://schemas.openxmlformats.org/drawingml/2006/main">
              <a:ext uri="{FF2B5EF4-FFF2-40B4-BE49-F238E27FC236}">
                <a16:creationId xmlns:a16="http://schemas.microsoft.com/office/drawing/2014/main" id="{6636FEBC-1F4C-4137-B9AD-DE004CB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Kₜ 来自 A 个池化锚点</a:t>
            </a:r>
          </a:p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Aₜ = Softmax(QₜKₜᵀ / √d + sL)</a:t>
            </a:r>
          </a:p>
        </p:txBody>
      </p:sp>
      <p:sp>
        <p:nvSpPr>
          <p:cNvPr id="9" name="Aₜ 的大小为 T × A，默认 A=16&#10;L 为局部时间距离偏">
            <a:extLst xmlns:a="http://schemas.openxmlformats.org/drawingml/2006/main">
              <a:ext uri="{FF2B5EF4-FFF2-40B4-BE49-F238E27FC236}">
                <a16:creationId xmlns:a16="http://schemas.microsoft.com/office/drawing/2014/main" id="{66AB2D8F-058A-4610-9881-B4AA9FA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5086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Aₜ 的大小为 T × A，默认 A=16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 为局部时间距离偏置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当前未实现 RoPE 或显式多尺度拓扑</a:t>
            </a:r>
          </a:p>
        </p:txBody>
      </p:sp>
      <p:sp>
        <p:nvSpPr>
          <p:cNvPr id="10" name="关系组合：Zᵣ = Aₜ⁽ʳ⁾ Poolₐ(Vᵣ Aₛ⁽ʳ⁾ᵀ)">
            <a:extLst xmlns:a="http://schemas.openxmlformats.org/drawingml/2006/main">
              <a:ext uri="{FF2B5EF4-FFF2-40B4-BE49-F238E27FC236}">
                <a16:creationId xmlns:a16="http://schemas.microsoft.com/office/drawing/2014/main" id="{489571E1-5E07-4D71-94E0-51B65BE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关系组合：Zᵣ = Aₜ⁽ʳ⁾ Poolₐ(Vᵣ Aₛ⁽ʳ⁾ᵀ)。门控缩放各通道组后合并，并进行输出投影。</a:t>
            </a:r>
          </a:p>
        </p:txBody>
      </p:sp>
    </p:spTree>
    <p:extLst>
      <p:ext uri="{BB962C8B-B14F-4D97-AF65-F5344CB8AC3E}">
        <p14:creationId xmlns:p14="http://schemas.microsoft.com/office/powerpoint/2010/main" val="22669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单块测试">
            <a:extLst xmlns:a="http://schemas.openxmlformats.org/drawingml/2006/main">
              <a:ext uri="{FF2B5EF4-FFF2-40B4-BE49-F238E27FC236}">
                <a16:creationId xmlns:a16="http://schemas.microsoft.com/office/drawing/2014/main" id="{4714DF73-7A76-4E79-9CDB-CC096087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早期单块测试</a:t>
            </a:r>
          </a:p>
        </p:txBody>
      </p:sp>
      <p:sp>
        <p:nvSpPr>
          <p:cNvPr id="2" name="模块原型显示延迟优势，但不能替代公平的整网对照">
            <a:extLst xmlns:a="http://schemas.openxmlformats.org/drawingml/2006/main">
              <a:ext uri="{FF2B5EF4-FFF2-40B4-BE49-F238E27FC236}">
                <a16:creationId xmlns:a16="http://schemas.microsoft.com/office/drawing/2014/main" id="{5748038C-23F5-422A-92DC-F66B313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模块原型显示延迟优势，但不能替代公平的整网对照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B54ABB5-C52B-4681-99CA-075375AE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82EC8-FA8B-403F-A4B3-BE315AFDA1B4}"/>
              </a:ext>
            </a:extLst>
          </p:cNvPr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505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095500"/>
                <a:gridCol w="2162175"/>
                <a:gridCol w="2857500"/>
              </a:tblGrid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相对该模块的延迟降低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SkateFormer 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1.5912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417,440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InfoGCN EncodingBlock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1.6513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201,180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Skate-RCA 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1.1795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269,726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原型结果用于验证设计方向">
            <a:extLst xmlns:a="http://schemas.openxmlformats.org/drawingml/2006/main">
              <a:ext uri="{FF2B5EF4-FFF2-40B4-BE49-F238E27FC236}">
                <a16:creationId xmlns:a16="http://schemas.microsoft.com/office/drawing/2014/main" id="{D4B9C00D-86BF-4485-87A5-9D3B698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原型结果用于验证设计方向</a:t>
            </a:r>
          </a:p>
        </p:txBody>
      </p:sp>
      <p:sp>
        <p:nvSpPr>
          <p:cNvPr id="6" name="原型数据来自提供的材料。默认 RCA FFN 比例可能更小，需区">
            <a:extLst xmlns:a="http://schemas.openxmlformats.org/drawingml/2006/main">
              <a:ext uri="{FF2B5EF4-FFF2-40B4-BE49-F238E27FC236}">
                <a16:creationId xmlns:a16="http://schemas.microsoft.com/office/drawing/2014/main" id="{5D316634-50DE-49F6-8876-179C36C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原型数据来自提供的材料。默认 RCA FFN 比例可能更小，需区分结构变化与 FFN 缩减的影响。</a:t>
            </a:r>
          </a:p>
        </p:txBody>
      </p:sp>
    </p:spTree>
    <p:extLst>
      <p:ext uri="{BB962C8B-B14F-4D97-AF65-F5344CB8AC3E}">
        <p14:creationId xmlns:p14="http://schemas.microsoft.com/office/powerpoint/2010/main" val="1739354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近期训练结果：dropout 缩小精度差距">
            <a:extLst xmlns:a="http://schemas.openxmlformats.org/drawingml/2006/main">
              <a:ext uri="{FF2B5EF4-FFF2-40B4-BE49-F238E27FC236}">
                <a16:creationId xmlns:a16="http://schemas.microsoft.com/office/drawing/2014/main" id="{0DA103E1-5C18-4A61-8C63-DB3A4D8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近期训练结果：dropout 缩小精度差距</a:t>
            </a:r>
          </a:p>
        </p:txBody>
      </p:sp>
      <p:sp>
        <p:nvSpPr>
          <p:cNvPr id="2" name="NTU60 XSub，14 关节、单人、64 帧，训练 batc">
            <a:extLst xmlns:a="http://schemas.openxmlformats.org/drawingml/2006/main">
              <a:ext uri="{FF2B5EF4-FFF2-40B4-BE49-F238E27FC236}">
                <a16:creationId xmlns:a16="http://schemas.microsoft.com/office/drawing/2014/main" id="{981CBEAD-87F9-46DC-88A6-564DCFE3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NTU60 XSub，14 关节、单人、64 帧，训练 batch=128，seed=1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60858DC-C4BE-4859-8CF9-BA69A1CE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B6750-E550-469D-A9B5-E779364333BE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286000"/>
                <a:gridCol w="2476500"/>
                <a:gridCol w="1685925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Best Top-1 /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B0 / 百分点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Best epoch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B0：SkateFormer，FFN=4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88.9307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M1：RCA，FFN=4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88.2695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−0.6611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 + attn_drop=0.1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88.6092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−0.3215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再将 anchors 设为 32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88.6153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−0.3154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dropout 带来约 0.34 个百分点恢复，RCA 仍未超过">
            <a:extLst xmlns:a="http://schemas.openxmlformats.org/drawingml/2006/main">
              <a:ext uri="{FF2B5EF4-FFF2-40B4-BE49-F238E27FC236}">
                <a16:creationId xmlns:a16="http://schemas.microsoft.com/office/drawing/2014/main" id="{D6B2F875-2FAD-4459-914F-991A503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dropout 带来约 0.34 个百分点恢复，RCA 仍未超过基线</a:t>
            </a:r>
          </a:p>
        </p:txBody>
      </p:sp>
      <p:sp>
        <p:nvSpPr>
          <p:cNvPr id="6" name="训练 500 epochs，base LR=0.001。结果来自">
            <a:extLst xmlns:a="http://schemas.openxmlformats.org/drawingml/2006/main">
              <a:ext uri="{FF2B5EF4-FFF2-40B4-BE49-F238E27FC236}">
                <a16:creationId xmlns:a16="http://schemas.microsoft.com/office/drawing/2014/main" id="{BC6AAFBC-036C-418F-B2D6-97AC85B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训练 500 epochs，base LR=0.001。结果来自用户日志，服务器配置与最佳 checkpoint 尚未独立复核。</a:t>
            </a:r>
          </a:p>
        </p:txBody>
      </p:sp>
    </p:spTree>
    <p:extLst>
      <p:ext uri="{BB962C8B-B14F-4D97-AF65-F5344CB8AC3E}">
        <p14:creationId xmlns:p14="http://schemas.microsoft.com/office/powerpoint/2010/main" val="1186358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整网结构测速：平均延迟下降 31.32%">
            <a:extLst xmlns:a="http://schemas.openxmlformats.org/drawingml/2006/main">
              <a:ext uri="{FF2B5EF4-FFF2-40B4-BE49-F238E27FC236}">
                <a16:creationId xmlns:a16="http://schemas.microsoft.com/office/drawing/2014/main" id="{74478F4B-A4E7-4FAC-9022-078F6658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整网结构测速：平均延迟下降 31.32%</a:t>
            </a:r>
          </a:p>
        </p:txBody>
      </p:sp>
      <p:sp>
        <p:nvSpPr>
          <p:cNvPr id="2" name="2026-10-12 配对测试，RTX 4070 Laptop，">
            <a:extLst xmlns:a="http://schemas.openxmlformats.org/drawingml/2006/main">
              <a:ext uri="{FF2B5EF4-FFF2-40B4-BE49-F238E27FC236}">
                <a16:creationId xmlns:a16="http://schemas.microsoft.com/office/drawing/2014/main" id="{56A5959A-F89F-41CA-89E4-769539C3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2026-10-12 配对测试，RTX 4070 Laptop，FP32，batch=1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D6ABAB9-E45E-4925-9944-2A647E3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A282306-E18B-4689-8C69-01C1D4F36505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286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60730344434754"/>
          </a:graphicData>
        </a:graphic>
      </p:graphicFrame>
      <p:sp>
        <p:nvSpPr>
          <p:cNvPr id="5" name="1.456×">
            <a:extLst xmlns:a="http://schemas.openxmlformats.org/drawingml/2006/main">
              <a:ext uri="{FF2B5EF4-FFF2-40B4-BE49-F238E27FC236}">
                <a16:creationId xmlns:a16="http://schemas.microsoft.com/office/drawing/2014/main" id="{508D6BAD-2C5E-4F09-8A73-75A55B19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90725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1.456×</a:t>
            </a:r>
          </a:p>
        </p:txBody>
      </p:sp>
      <p:sp>
        <p:nvSpPr>
          <p:cNvPr id="6" name="平均延迟加速比">
            <a:extLst xmlns:a="http://schemas.openxmlformats.org/drawingml/2006/main">
              <a:ext uri="{FF2B5EF4-FFF2-40B4-BE49-F238E27FC236}">
                <a16:creationId xmlns:a16="http://schemas.microsoft.com/office/drawing/2014/main" id="{32F5EF02-6921-490A-8B6B-FBB455F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1940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平均延迟加速比</a:t>
            </a:r>
          </a:p>
        </p:txBody>
      </p:sp>
      <p:sp>
        <p:nvSpPr>
          <p:cNvPr id="7" name="9.39%">
            <a:extLst xmlns:a="http://schemas.openxmlformats.org/drawingml/2006/main">
              <a:ext uri="{FF2B5EF4-FFF2-40B4-BE49-F238E27FC236}">
                <a16:creationId xmlns:a16="http://schemas.microsoft.com/office/drawing/2014/main" id="{15F51E7B-6188-49E4-A48E-53AEF9A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052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9.39%</a:t>
            </a:r>
          </a:p>
        </p:txBody>
      </p:sp>
      <p:sp>
        <p:nvSpPr>
          <p:cNvPr id="8" name="部分 FLOPs 计数下降&#10;1.9946 至 1.8072 G">
            <a:extLst xmlns:a="http://schemas.openxmlformats.org/drawingml/2006/main">
              <a:ext uri="{FF2B5EF4-FFF2-40B4-BE49-F238E27FC236}">
                <a16:creationId xmlns:a16="http://schemas.microsoft.com/office/drawing/2014/main" id="{F41E300C-D467-408E-8060-A6F366D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672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部分 FLOPs 计数下降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1.9946 至 1.8072 G</a:t>
            </a:r>
          </a:p>
        </p:txBody>
      </p:sp>
      <p:sp>
        <p:nvSpPr>
          <p:cNvPr id="9" name="随机权重，GPU 驻留输入；5 轮 × 100 次同步墙钟计时。">
            <a:extLst xmlns:a="http://schemas.openxmlformats.org/drawingml/2006/main">
              <a:ext uri="{FF2B5EF4-FFF2-40B4-BE49-F238E27FC236}">
                <a16:creationId xmlns:a16="http://schemas.microsoft.com/office/drawing/2014/main" id="{BEF4666F-93A7-44F7-A470-B500D373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随机权重，GPU 驻留输入；5 轮 × 100 次同步墙钟计时。不含骨架提取、数据加载或传输，非端侧结果。</a:t>
            </a:r>
          </a:p>
        </p:txBody>
      </p:sp>
    </p:spTree>
    <p:extLst>
      <p:ext uri="{BB962C8B-B14F-4D97-AF65-F5344CB8AC3E}">
        <p14:creationId xmlns:p14="http://schemas.microsoft.com/office/powerpoint/2010/main" val="12536014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间锚点消融：16 与 32 的精度基本持平">
            <a:extLst xmlns:a="http://schemas.openxmlformats.org/drawingml/2006/main">
              <a:ext uri="{FF2B5EF4-FFF2-40B4-BE49-F238E27FC236}">
                <a16:creationId xmlns:a16="http://schemas.microsoft.com/office/drawing/2014/main" id="{C01384DC-A350-4208-AB4C-48BFC385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时间锚点消融：16 与 32 的精度基本持平</a:t>
            </a:r>
          </a:p>
        </p:txBody>
      </p:sp>
      <p:sp>
        <p:nvSpPr>
          <p:cNvPr id="2" name="固定 attn_drop=0.1、FFN=4、R=2，仅改变时间">
            <a:extLst xmlns:a="http://schemas.openxmlformats.org/drawingml/2006/main">
              <a:ext uri="{FF2B5EF4-FFF2-40B4-BE49-F238E27FC236}">
                <a16:creationId xmlns:a16="http://schemas.microsoft.com/office/drawing/2014/main" id="{75FF9B19-A074-431A-B251-9332CC5D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固定 attn_drop=0.1、FFN=4、R=2，仅改变时间锚点数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E5D30572-076B-407D-BAC6-8F71F61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DA08C-19BE-4C5C-A12D-C771B40F85EA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38375"/>
                <a:gridCol w="2238375"/>
                <a:gridCol w="2238375"/>
                <a:gridCol w="2257425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锚点数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 /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 GFLOPs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88.6092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9.8198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1.8072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88.6153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10.0498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1.8226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精度变化 +0.0061 个百分点">
            <a:extLst xmlns:a="http://schemas.openxmlformats.org/drawingml/2006/main">
              <a:ext uri="{FF2B5EF4-FFF2-40B4-BE49-F238E27FC236}">
                <a16:creationId xmlns:a16="http://schemas.microsoft.com/office/drawing/2014/main" id="{B7803DF9-896E-4E42-B0BD-EC00EC5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精度变化 +0.0061 个百分点</a:t>
            </a:r>
          </a:p>
        </p:txBody>
      </p:sp>
      <p:sp>
        <p:nvSpPr>
          <p:cNvPr id="6" name="结构耗时变化 +2.34%">
            <a:extLst xmlns:a="http://schemas.openxmlformats.org/drawingml/2006/main">
              <a:ext uri="{FF2B5EF4-FFF2-40B4-BE49-F238E27FC236}">
                <a16:creationId xmlns:a16="http://schemas.microsoft.com/office/drawing/2014/main" id="{ABBB10D7-CDE2-4096-8611-FD6B84C9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5295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rPr>
              <a:t>结构耗时变化 +2.34%</a:t>
            </a:r>
          </a:p>
        </p:txBody>
      </p:sp>
      <p:sp>
        <p:nvSpPr>
          <p:cNvPr id="7" name="暂保留 16 锚点作为后续结构消融起点">
            <a:extLst xmlns:a="http://schemas.openxmlformats.org/drawingml/2006/main">
              <a:ext uri="{FF2B5EF4-FFF2-40B4-BE49-F238E27FC236}">
                <a16:creationId xmlns:a16="http://schemas.microsoft.com/office/drawing/2014/main" id="{715958FE-52F1-49DC-A135-6E01FC4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暂保留 16 锚点作为后续结构消融起点</a:t>
            </a:r>
          </a:p>
        </p:txBody>
      </p:sp>
      <p:sp>
        <p:nvSpPr>
          <p:cNvPr id="8" name="精度来自训练日志；耗时来自 10 月 13 日随机权重配对测速（">
            <a:extLst xmlns:a="http://schemas.openxmlformats.org/drawingml/2006/main">
              <a:ext uri="{FF2B5EF4-FFF2-40B4-BE49-F238E27FC236}">
                <a16:creationId xmlns:a16="http://schemas.microsoft.com/office/drawing/2014/main" id="{CA7648E9-DF11-4AD4-803F-CA4176A3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精度来自训练日志；耗时来自 10 月 13 日随机权重配对测速（10×100 次）。轮间有抖动，尚无稳定增益证据。</a:t>
            </a:r>
          </a:p>
        </p:txBody>
      </p:sp>
    </p:spTree>
    <p:extLst>
      <p:ext uri="{BB962C8B-B14F-4D97-AF65-F5344CB8AC3E}">
        <p14:creationId xmlns:p14="http://schemas.microsoft.com/office/powerpoint/2010/main" val="166119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ocalT3：补充局部时间建模的候选分支">
            <a:extLst xmlns:a="http://schemas.openxmlformats.org/drawingml/2006/main">
              <a:ext uri="{FF2B5EF4-FFF2-40B4-BE49-F238E27FC236}">
                <a16:creationId xmlns:a16="http://schemas.microsoft.com/office/drawing/2014/main" id="{E688C15C-D22A-43E6-B49E-6CEFA8E6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LocalT3：补充局部时间建模的候选分支</a:t>
            </a:r>
          </a:p>
        </p:txBody>
      </p:sp>
      <p:sp>
        <p:nvSpPr>
          <p:cNvPr id="2" name="共享 Value 上增加 3×1 深度时间卷积，可学习缩放初始化">
            <a:extLst xmlns:a="http://schemas.openxmlformats.org/drawingml/2006/main">
              <a:ext uri="{FF2B5EF4-FFF2-40B4-BE49-F238E27FC236}">
                <a16:creationId xmlns:a16="http://schemas.microsoft.com/office/drawing/2014/main" id="{8E08ABDC-1440-4C69-AC32-7EE0C58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共享 Value 上增加 3×1 深度时间卷积，可学习缩放初始化为 0.1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E0D42E7-9A1E-4FA1-9BFD-BCF5F013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C6BEC-C7CA-48FA-A914-291DB01EA7BC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52625"/>
                <a:gridCol w="1952625"/>
                <a:gridCol w="2209800"/>
                <a:gridCol w="1905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训练精度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14.4006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18.1879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3,386,707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本轮未测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9.6308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12.2631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本轮未测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 + LocalT3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10.3256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13.5194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3,380,859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尚未训练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新增分支比 RCA 慢 7.21%，仍比 B0 快 28.30%">
            <a:extLst xmlns:a="http://schemas.openxmlformats.org/drawingml/2006/main">
              <a:ext uri="{FF2B5EF4-FFF2-40B4-BE49-F238E27FC236}">
                <a16:creationId xmlns:a16="http://schemas.microsoft.com/office/drawing/2014/main" id="{9946EB8A-8464-47E1-A833-492A046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新增分支比 RCA 慢 7.21%，仍比 B0 快 28.30%</a:t>
            </a:r>
          </a:p>
        </p:txBody>
      </p:sp>
      <p:sp>
        <p:nvSpPr>
          <p:cNvPr id="6" name="10 月 13 日同次测试，FP32、B=1、随机权重，6 轮×">
            <a:extLst xmlns:a="http://schemas.openxmlformats.org/drawingml/2006/main">
              <a:ext uri="{FF2B5EF4-FFF2-40B4-BE49-F238E27FC236}">
                <a16:creationId xmlns:a16="http://schemas.microsoft.com/office/drawing/2014/main" id="{C1556DC1-9BDB-4DB9-B8CE-3C204BBF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10 月 13 日同次测试，FP32、B=1、随机权重，6 轮×100 次。是否值得增加开销，需由训练精度决定。</a:t>
            </a:r>
          </a:p>
        </p:txBody>
      </p:sp>
    </p:spTree>
    <p:extLst>
      <p:ext uri="{BB962C8B-B14F-4D97-AF65-F5344CB8AC3E}">
        <p14:creationId xmlns:p14="http://schemas.microsoft.com/office/powerpoint/2010/main" val="353841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识别：历史基线与意图控制结果">
            <a:extLst xmlns:a="http://schemas.openxmlformats.org/drawingml/2006/main">
              <a:ext uri="{FF2B5EF4-FFF2-40B4-BE49-F238E27FC236}">
                <a16:creationId xmlns:a16="http://schemas.microsoft.com/office/drawing/2014/main" id="{78F981F9-FBA8-4C63-98C4-F6FABD5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早期识别：历史基线与意图控制结果</a:t>
            </a:r>
          </a:p>
        </p:txBody>
      </p:sp>
      <p:sp>
        <p:nvSpPr>
          <p:cNvPr id="2" name="历史 24 关节双人协议，与当前 14 关节单人加速实验分开报告">
            <a:extLst xmlns:a="http://schemas.openxmlformats.org/drawingml/2006/main">
              <a:ext uri="{FF2B5EF4-FFF2-40B4-BE49-F238E27FC236}">
                <a16:creationId xmlns:a16="http://schemas.microsoft.com/office/drawing/2014/main" id="{CAA8EB23-E37C-462D-A211-42B07EEE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历史 24 关节双人协议，与当前 14 关节单人加速实验分开报告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5D559BE-D80E-4E20-A86F-B1F59116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CE324-983E-4220-849F-9AA2AC322D3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86300"/>
                <a:gridCol w="2095500"/>
                <a:gridCol w="2095500"/>
                <a:gridCol w="2095500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r=0.1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r=0.3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r=0.5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prefix_multi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31.88%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68.92%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85.52%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 intent-only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31.69%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67.95%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85.35%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intent-only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31.32%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85.42%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early-observable v2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85.46%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+ 自适应权重/门控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31.30%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85.53%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意图控制尚未改善低观测比例结果，后续需检验蒸馏是否有效">
            <a:extLst xmlns:a="http://schemas.openxmlformats.org/drawingml/2006/main">
              <a:ext uri="{FF2B5EF4-FFF2-40B4-BE49-F238E27FC236}">
                <a16:creationId xmlns:a16="http://schemas.microsoft.com/office/drawing/2014/main" id="{FBA76242-F98F-4F87-962E-40AAAE5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意图控制尚未改善低观测比例结果，后续需检验蒸馏是否有效</a:t>
            </a:r>
          </a:p>
        </p:txBody>
      </p:sp>
      <p:sp>
        <p:nvSpPr>
          <p:cNvPr id="6" name="r 为可观测前缀比例。prefix_multi 作为基线简述；蒸">
            <a:extLst xmlns:a="http://schemas.openxmlformats.org/drawingml/2006/main">
              <a:ext uri="{FF2B5EF4-FFF2-40B4-BE49-F238E27FC236}">
                <a16:creationId xmlns:a16="http://schemas.microsoft.com/office/drawing/2014/main" id="{DB1BAC9D-FDA7-4ED3-8334-ABDD74A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r 为可观测前缀比例。prefix_multi 作为基线简述；蒸馏及联合方案尚无此处可报告的完成结果。</a:t>
            </a:r>
          </a:p>
        </p:txBody>
      </p:sp>
    </p:spTree>
    <p:extLst>
      <p:ext uri="{BB962C8B-B14F-4D97-AF65-F5344CB8AC3E}">
        <p14:creationId xmlns:p14="http://schemas.microsoft.com/office/powerpoint/2010/main" val="783111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算子优化与系统部署安排">
            <a:extLst xmlns:a="http://schemas.openxmlformats.org/drawingml/2006/main">
              <a:ext uri="{FF2B5EF4-FFF2-40B4-BE49-F238E27FC236}">
                <a16:creationId xmlns:a16="http://schemas.microsoft.com/office/drawing/2014/main" id="{80C4B0F2-B2EE-4A3B-9710-B2258B3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算子优化与系统部署安排</a:t>
            </a:r>
          </a:p>
        </p:txBody>
      </p:sp>
      <p:sp>
        <p:nvSpPr>
          <p:cNvPr id="2" name="以目标设备上的多人端到端延迟作为最终验收依据">
            <a:extLst xmlns:a="http://schemas.openxmlformats.org/drawingml/2006/main">
              <a:ext uri="{FF2B5EF4-FFF2-40B4-BE49-F238E27FC236}">
                <a16:creationId xmlns:a16="http://schemas.microsoft.com/office/drawing/2014/main" id="{08508200-FF48-4835-9267-3383A85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以目标设备上的多人端到端延迟作为最终验收依据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201491B6-2629-4E0F-AA41-2B9527D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855E3-4194-49AC-94EF-8D5D5C335854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5181600"/>
                <a:gridCol w="299085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Skate-RCA 算子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定位聚合、重排、投影热点，评估融合实现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同输入输出精度与实测延迟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骨架提取与模型压缩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骨架模型剪枝，关节数量与量化方案对照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姿态质量、识别率、存储与耗时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多人嵌入式部署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2 TOPS 平台，batch=1/5/10/20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P50/P95、吞吐、内存与功耗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系统预警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串联检测、跟踪、骨架、分类与预警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从采集到预警的端到端时延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已有工程基础：Beam search 算子约 2000+ 行，过">
            <a:extLst xmlns:a="http://schemas.openxmlformats.org/drawingml/2006/main">
              <a:ext uri="{FF2B5EF4-FFF2-40B4-BE49-F238E27FC236}">
                <a16:creationId xmlns:a16="http://schemas.microsoft.com/office/drawing/2014/main" id="{7CD21933-7982-40DD-A59C-EEFC3BC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已有工程基础：Beam search 算子约 2000+ 行，过程耗时减少约 70%</a:t>
            </a:r>
          </a:p>
        </p:txBody>
      </p:sp>
      <p:sp>
        <p:nvSpPr>
          <p:cNvPr id="6" name="Beam search 为用户提供的既往结果，不代表 RCA 的">
            <a:extLst xmlns:a="http://schemas.openxmlformats.org/drawingml/2006/main">
              <a:ext uri="{FF2B5EF4-FFF2-40B4-BE49-F238E27FC236}">
                <a16:creationId xmlns:a16="http://schemas.microsoft.com/office/drawing/2014/main" id="{1586DFB8-96DD-4C91-951E-3AB7019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Beam search 为用户提供的既往结果，不代表 RCA 的优化收益。部署、剪枝与量化项为后续工作。</a:t>
            </a:r>
          </a:p>
        </p:txBody>
      </p:sp>
    </p:spTree>
    <p:extLst>
      <p:ext uri="{BB962C8B-B14F-4D97-AF65-F5344CB8AC3E}">
        <p14:creationId xmlns:p14="http://schemas.microsoft.com/office/powerpoint/2010/main" val="77438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下一阶段实验安排">
            <a:extLst xmlns:a="http://schemas.openxmlformats.org/drawingml/2006/main">
              <a:ext uri="{FF2B5EF4-FFF2-40B4-BE49-F238E27FC236}">
                <a16:creationId xmlns:a16="http://schemas.microsoft.com/office/drawing/2014/main" id="{D25C7A94-C1E9-425C-AED2-0F744D7A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下一阶段实验安排</a:t>
            </a:r>
          </a:p>
        </p:txBody>
      </p:sp>
      <p:sp>
        <p:nvSpPr>
          <p:cNvPr id="2" name="先补齐精度与延迟的对应证据，再推进端侧目标">
            <a:extLst xmlns:a="http://schemas.openxmlformats.org/drawingml/2006/main">
              <a:ext uri="{FF2B5EF4-FFF2-40B4-BE49-F238E27FC236}">
                <a16:creationId xmlns:a16="http://schemas.microsoft.com/office/drawing/2014/main" id="{E2CEB735-F16E-4E4C-A1A2-210DB00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先补齐精度与延迟的对应证据，再推进端侧目标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7E683063-40DF-4222-9E90-D06DD30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60A84BD8-D43F-4DD5-8B12-315AD51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核验最佳 checkpoint">
            <a:extLst xmlns:a="http://schemas.openxmlformats.org/drawingml/2006/main">
              <a:ext uri="{FF2B5EF4-FFF2-40B4-BE49-F238E27FC236}">
                <a16:creationId xmlns:a16="http://schemas.microsoft.com/office/drawing/2014/main" id="{81B9AAFF-7FED-44F3-83AC-272E6E8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核验最佳 checkpoint</a:t>
            </a:r>
          </a:p>
        </p:txBody>
      </p:sp>
      <p:sp>
        <p:nvSpPr>
          <p:cNvPr id="6" name="复核 B0 与 RCA 配置和权重，在同设备完成精度与延迟联合测">
            <a:extLst xmlns:a="http://schemas.openxmlformats.org/drawingml/2006/main">
              <a:ext uri="{FF2B5EF4-FFF2-40B4-BE49-F238E27FC236}">
                <a16:creationId xmlns:a16="http://schemas.microsoft.com/office/drawing/2014/main" id="{20D637E5-3F02-41B2-9E9F-6252928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复核 B0 与 RCA 配置和权重，在同设备完成精度与延迟联合测试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81019A64-B200-47C2-8A56-BF61DFF1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验证精度恢复方案">
            <a:extLst xmlns:a="http://schemas.openxmlformats.org/drawingml/2006/main">
              <a:ext uri="{FF2B5EF4-FFF2-40B4-BE49-F238E27FC236}">
                <a16:creationId xmlns:a16="http://schemas.microsoft.com/office/drawing/2014/main" id="{5D2150F3-FFB0-44A3-972A-C8A5EDAC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验证精度恢复方案</a:t>
            </a:r>
          </a:p>
        </p:txBody>
      </p:sp>
      <p:sp>
        <p:nvSpPr>
          <p:cNvPr id="9" name="完成 LocalT3 训练，必要时比较部分 stage 替换与教">
            <a:extLst xmlns:a="http://schemas.openxmlformats.org/drawingml/2006/main">
              <a:ext uri="{FF2B5EF4-FFF2-40B4-BE49-F238E27FC236}">
                <a16:creationId xmlns:a16="http://schemas.microsoft.com/office/drawing/2014/main" id="{3BEDDE0E-B688-4308-8106-4EEBD53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完成 LocalT3 训练，必要时比较部分 stage 替换与教师蒸馏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361C586-3DC1-4034-93F4-84181F9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检验结果稳定性">
            <a:extLst xmlns:a="http://schemas.openxmlformats.org/drawingml/2006/main">
              <a:ext uri="{FF2B5EF4-FFF2-40B4-BE49-F238E27FC236}">
                <a16:creationId xmlns:a16="http://schemas.microsoft.com/office/drawing/2014/main" id="{D5BDF34A-B7CB-4C45-8AB9-44CEAF2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检验结果稳定性</a:t>
            </a:r>
          </a:p>
        </p:txBody>
      </p:sp>
      <p:sp>
        <p:nvSpPr>
          <p:cNvPr id="12" name="补多 seed 与 XView，对照延迟均值、P95 和精度波动">
            <a:extLst xmlns:a="http://schemas.openxmlformats.org/drawingml/2006/main">
              <a:ext uri="{FF2B5EF4-FFF2-40B4-BE49-F238E27FC236}">
                <a16:creationId xmlns:a16="http://schemas.microsoft.com/office/drawing/2014/main" id="{C298CA49-CC5C-4653-9F62-D593CC81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补多 seed 与 XView，对照延迟均值、P95 和精度波动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5E07B34B-3611-4B5F-944D-B80EFE5F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推进多人端侧验证">
            <a:extLst xmlns:a="http://schemas.openxmlformats.org/drawingml/2006/main">
              <a:ext uri="{FF2B5EF4-FFF2-40B4-BE49-F238E27FC236}">
                <a16:creationId xmlns:a16="http://schemas.microsoft.com/office/drawing/2014/main" id="{3F8FEE80-6387-4055-AF33-5069478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推进多人端侧验证</a:t>
            </a:r>
          </a:p>
        </p:txBody>
      </p:sp>
      <p:sp>
        <p:nvSpPr>
          <p:cNvPr id="15" name="扫描 batch=1/5/10/20，拆分骨架提取、分类及排队开">
            <a:extLst xmlns:a="http://schemas.openxmlformats.org/drawingml/2006/main">
              <a:ext uri="{FF2B5EF4-FFF2-40B4-BE49-F238E27FC236}">
                <a16:creationId xmlns:a16="http://schemas.microsoft.com/office/drawing/2014/main" id="{491061B6-57B8-42E2-9CFB-0F46AB2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扫描 batch=1/5/10/20，拆分骨架提取、分类及排队开销</a:t>
            </a:r>
          </a:p>
        </p:txBody>
      </p:sp>
      <p:sp>
        <p:nvSpPr>
          <p:cNvPr id="16" name="当前可支持：RCA 有结构加速潜力。仍待证明：精度收益、早期预警">
            <a:extLst xmlns:a="http://schemas.openxmlformats.org/drawingml/2006/main">
              <a:ext uri="{FF2B5EF4-FFF2-40B4-BE49-F238E27FC236}">
                <a16:creationId xmlns:a16="http://schemas.microsoft.com/office/drawing/2014/main" id="{5296C4AD-B1EE-4475-976E-08AC53D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当前可支持：RCA 有结构加速潜力。仍待证明：精度收益、早期预警收益与 20 人 / 100 ms 端侧目标。</a:t>
            </a:r>
          </a:p>
        </p:txBody>
      </p:sp>
    </p:spTree>
    <p:extLst>
      <p:ext uri="{BB962C8B-B14F-4D97-AF65-F5344CB8AC3E}">
        <p14:creationId xmlns:p14="http://schemas.microsoft.com/office/powerpoint/2010/main" val="16901183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附录：论文小节安排（第1—3章）">
            <a:extLst xmlns:a="http://schemas.openxmlformats.org/drawingml/2006/main">
              <a:ext uri="{FF2B5EF4-FFF2-40B4-BE49-F238E27FC236}">
                <a16:creationId xmlns:a16="http://schemas.microsoft.com/office/drawing/2014/main" id="{719A5B0C-88F6-408D-8698-0511D85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附录：论文小节安排（第1—3章）</a:t>
            </a:r>
          </a:p>
        </p:txBody>
      </p:sp>
      <p:sp>
        <p:nvSpPr>
          <p:cNvPr id="2" name="保留章节结构，基础方法简述，重点突出待验证贡献">
            <a:extLst xmlns:a="http://schemas.openxmlformats.org/drawingml/2006/main">
              <a:ext uri="{FF2B5EF4-FFF2-40B4-BE49-F238E27FC236}">
                <a16:creationId xmlns:a16="http://schemas.microsoft.com/office/drawing/2014/main" id="{3B7A84B9-858C-44C2-B1AF-461B646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保留章节结构，基础方法简述，重点突出待验证贡献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D5D0E29A-F585-45E7-9010-92E4163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第1章  绪论">
            <a:extLst xmlns:a="http://schemas.openxmlformats.org/drawingml/2006/main">
              <a:ext uri="{FF2B5EF4-FFF2-40B4-BE49-F238E27FC236}">
                <a16:creationId xmlns:a16="http://schemas.microsoft.com/office/drawing/2014/main" id="{50C5BAEC-708B-45DB-A1D3-0A30BEB5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第1章  绪论</a:t>
            </a:r>
          </a:p>
        </p:txBody>
      </p:sp>
      <p:sp>
        <p:nvSpPr>
          <p:cNvPr id="5" name="1.1  研究目的和意义&#10;1.2  国内外研究现状及发展趋势&#10;1">
            <a:extLst xmlns:a="http://schemas.openxmlformats.org/drawingml/2006/main">
              <a:ext uri="{FF2B5EF4-FFF2-40B4-BE49-F238E27FC236}">
                <a16:creationId xmlns:a16="http://schemas.microsoft.com/office/drawing/2014/main" id="{1BAD74B6-0EA4-4DD3-8F88-80B9D3A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34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1.1  研究目的和意义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1.2  国内外研究现状及发展趋势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1.3  论文主要研究内容及章节安排</a:t>
            </a:r>
          </a:p>
        </p:txBody>
      </p:sp>
      <p:sp>
        <p:nvSpPr>
          <p:cNvPr id="6" name="第2章  Skate-RCA">
            <a:extLst xmlns:a="http://schemas.openxmlformats.org/drawingml/2006/main">
              <a:ext uri="{FF2B5EF4-FFF2-40B4-BE49-F238E27FC236}">
                <a16:creationId xmlns:a16="http://schemas.microsoft.com/office/drawing/2014/main" id="{B54D5C58-D7BD-42F6-AF8E-7896650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第2章  Skate-RCA</a:t>
            </a:r>
          </a:p>
        </p:txBody>
      </p:sp>
      <p:sp>
        <p:nvSpPr>
          <p:cNvPr id="7" name="2.1  引言（已有方法及局限）&#10;2.2  Skate 算法总览">
            <a:extLst xmlns:a="http://schemas.openxmlformats.org/drawingml/2006/main">
              <a:ext uri="{FF2B5EF4-FFF2-40B4-BE49-F238E27FC236}">
                <a16:creationId xmlns:a16="http://schemas.microsoft.com/office/drawing/2014/main" id="{C7FB8392-46D8-464F-96D3-B908244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34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2.1  引言（已有方法及局限）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2.2  Skate 算法总览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2.3  Skate-RCA 模块介绍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2.4  效果及消融实验</a:t>
            </a:r>
          </a:p>
        </p:txBody>
      </p:sp>
      <p:sp>
        <p:nvSpPr>
          <p:cNvPr id="8" name="第3章  意图分类控制的早期动作识别">
            <a:extLst xmlns:a="http://schemas.openxmlformats.org/drawingml/2006/main">
              <a:ext uri="{FF2B5EF4-FFF2-40B4-BE49-F238E27FC236}">
                <a16:creationId xmlns:a16="http://schemas.microsoft.com/office/drawing/2014/main" id="{7F88F8CB-9CB7-4652-8C02-F222C20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第3章  意图分类控制的早期动作识别</a:t>
            </a:r>
          </a:p>
        </p:txBody>
      </p:sp>
      <p:sp>
        <p:nvSpPr>
          <p:cNvPr id="9" name="3.1  引言&#10;3.2  基于 attention 和卷积的融合">
            <a:extLst xmlns:a="http://schemas.openxmlformats.org/drawingml/2006/main">
              <a:ext uri="{FF2B5EF4-FFF2-40B4-BE49-F238E27FC236}">
                <a16:creationId xmlns:a16="http://schemas.microsoft.com/office/drawing/2014/main" id="{7823FCF7-F850-4504-A713-B659C986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51054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3.1  引言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3.2  基于 attention 和卷积的融合早期识别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SkateFormer prefix_multi 基线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3.3  意图分类控制 + 蒸馏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3.3.1  算法优化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3.3.2  蒸馏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3.3.3  消融实验与数据分析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3.4  本章小结</a:t>
            </a:r>
          </a:p>
        </p:txBody>
      </p:sp>
    </p:spTree>
    <p:extLst>
      <p:ext uri="{BB962C8B-B14F-4D97-AF65-F5344CB8AC3E}">
        <p14:creationId xmlns:p14="http://schemas.microsoft.com/office/powerpoint/2010/main" val="677873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附录：论文小节安排（第4—5章）">
            <a:extLst xmlns:a="http://schemas.openxmlformats.org/drawingml/2006/main">
              <a:ext uri="{FF2B5EF4-FFF2-40B4-BE49-F238E27FC236}">
                <a16:creationId xmlns:a16="http://schemas.microsoft.com/office/drawing/2014/main" id="{496C9613-4A88-4504-AFB1-2DD3AAA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附录：论文小节安排（第4—5章）</a:t>
            </a:r>
          </a:p>
        </p:txBody>
      </p:sp>
      <p:sp>
        <p:nvSpPr>
          <p:cNvPr id="2" name="算法结构、执行效率与系统部署形成完整验证链条">
            <a:extLst xmlns:a="http://schemas.openxmlformats.org/drawingml/2006/main">
              <a:ext uri="{FF2B5EF4-FFF2-40B4-BE49-F238E27FC236}">
                <a16:creationId xmlns:a16="http://schemas.microsoft.com/office/drawing/2014/main" id="{3532561F-C2EE-4F70-A85B-3982E2B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算法结构、执行效率与系统部署形成完整验证链条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D8F510D9-D725-40CB-B57B-C4C1F48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第4章  针对 Skate-RCA 的算子优化">
            <a:extLst xmlns:a="http://schemas.openxmlformats.org/drawingml/2006/main">
              <a:ext uri="{FF2B5EF4-FFF2-40B4-BE49-F238E27FC236}">
                <a16:creationId xmlns:a16="http://schemas.microsoft.com/office/drawing/2014/main" id="{C776272A-A0E7-46B9-AB41-11D14A7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29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第4章  针对 Skate-RCA 的算子优化</a:t>
            </a:r>
          </a:p>
        </p:txBody>
      </p:sp>
      <p:sp>
        <p:nvSpPr>
          <p:cNvPr id="5" name="4.1  引言&#10;4.2  算子总览&#10;4.3  优化手段&#10;4.4 ">
            <a:extLst xmlns:a="http://schemas.openxmlformats.org/drawingml/2006/main">
              <a:ext uri="{FF2B5EF4-FFF2-40B4-BE49-F238E27FC236}">
                <a16:creationId xmlns:a16="http://schemas.microsoft.com/office/drawing/2014/main" id="{A8E52199-5AD8-4C48-A77D-5928FAC1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387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4.1  引言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4.2  算子总览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4.3  优化手段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4.4  本章小结</a:t>
            </a:r>
          </a:p>
        </p:txBody>
      </p:sp>
      <p:sp>
        <p:nvSpPr>
          <p:cNvPr id="6" name="第5章  高实时性视觉识别系统">
            <a:extLst xmlns:a="http://schemas.openxmlformats.org/drawingml/2006/main">
              <a:ext uri="{FF2B5EF4-FFF2-40B4-BE49-F238E27FC236}">
                <a16:creationId xmlns:a16="http://schemas.microsoft.com/office/drawing/2014/main" id="{0088896B-EE2F-4D70-BB08-D9CE951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95475"/>
            <a:ext cx="5057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第5章  高实时性视觉识别系统</a:t>
            </a:r>
          </a:p>
        </p:txBody>
      </p:sp>
      <p:sp>
        <p:nvSpPr>
          <p:cNvPr id="7" name="5.1  引言&#10;5.2  骨骼点识别模型剪枝优化&#10;5.3  模型">
            <a:extLst xmlns:a="http://schemas.openxmlformats.org/drawingml/2006/main">
              <a:ext uri="{FF2B5EF4-FFF2-40B4-BE49-F238E27FC236}">
                <a16:creationId xmlns:a16="http://schemas.microsoft.com/office/drawing/2014/main" id="{6EF0474C-712D-41F2-A9F7-39D261BD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50577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5.1  引言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5.2  骨骼点识别模型剪枝优化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5.3  模型剪枝与量化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5.4  嵌入式设备部署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5.5  本章小结</a:t>
            </a:r>
          </a:p>
        </p:txBody>
      </p:sp>
      <p:sp>
        <p:nvSpPr>
          <p:cNvPr id="8" name="建议在第5章明确各阶段时延预算，并报告骨架提取质量对动作识别与预">
            <a:extLst xmlns:a="http://schemas.openxmlformats.org/drawingml/2006/main">
              <a:ext uri="{FF2B5EF4-FFF2-40B4-BE49-F238E27FC236}">
                <a16:creationId xmlns:a16="http://schemas.microsoft.com/office/drawing/2014/main" id="{6BA24990-5F1E-49B7-877B-A82AF24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建议在第5章明确各阶段时延预算，并报告骨架提取质量对动作识别与预警的影响。</a:t>
            </a:r>
          </a:p>
        </p:txBody>
      </p:sp>
    </p:spTree>
    <p:extLst>
      <p:ext uri="{BB962C8B-B14F-4D97-AF65-F5344CB8AC3E}">
        <p14:creationId xmlns:p14="http://schemas.microsoft.com/office/powerpoint/2010/main" val="1697625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录：Type 1 分区与张量形状">
            <a:extLst xmlns:a="http://schemas.openxmlformats.org/drawingml/2006/main">
              <a:ext uri="{FF2B5EF4-FFF2-40B4-BE49-F238E27FC236}">
                <a16:creationId xmlns:a16="http://schemas.microsoft.com/office/drawing/2014/main" id="{485F22CD-B56D-4D12-968C-0FFFD29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附录：Type 1 分区与张量形状</a:t>
            </a:r>
          </a:p>
        </p:txBody>
      </p:sp>
      <p:sp>
        <p:nvSpPr>
          <p:cNvPr id="2" name="示例 T=64、V=14、窗口=(8,7)、C=192、H=32">
            <a:extLst xmlns:a="http://schemas.openxmlformats.org/drawingml/2006/main">
              <a:ext uri="{FF2B5EF4-FFF2-40B4-BE49-F238E27FC236}">
                <a16:creationId xmlns:a16="http://schemas.microsoft.com/office/drawing/2014/main" id="{D7D97FB6-48AE-45E3-AF2C-DFCB5C24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示例 T=64、V=14、窗口=(8,7)、C=192、H=32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DC0552BF-4580-461A-9D27-4410E75C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5AC94-C00C-461B-A0CB-736FBD96F16E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张量形状 / 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分区窗口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个窗口 / 样本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个时间组 × 2 个关节组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 Token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帧 × 7 个关节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QKV 分区后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56, 72]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单路有效通道 C/8=24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拆分 Q、K、V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4, 56, 6]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 head，每个 head 6 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map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4, 56, 56]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窗口内的两两关系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区增加窗口数量，但每个矩阵较小，仍可能出现调度碎片化">
            <a:extLst xmlns:a="http://schemas.openxmlformats.org/drawingml/2006/main">
              <a:ext uri="{FF2B5EF4-FFF2-40B4-BE49-F238E27FC236}">
                <a16:creationId xmlns:a16="http://schemas.microsoft.com/office/drawing/2014/main" id="{C32426D5-84E3-42F6-9A9A-A6561D5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分区增加窗口数量，但每个矩阵较小，仍可能出现调度碎片化</a:t>
            </a:r>
          </a:p>
        </p:txBody>
      </p:sp>
      <p:sp>
        <p:nvSpPr>
          <p:cNvPr id="6" name="Type 1/2 使用连续时间，Type 3/4 使用全局稀疏时">
            <a:extLst xmlns:a="http://schemas.openxmlformats.org/drawingml/2006/main">
              <a:ext uri="{FF2B5EF4-FFF2-40B4-BE49-F238E27FC236}">
                <a16:creationId xmlns:a16="http://schemas.microsoft.com/office/drawing/2014/main" id="{8AD71215-DA78-43F6-8C25-86C1768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Type 1/2 使用连续时间，Type 3/4 使用全局稀疏时间。14 关节需核验排序，确保“邻近关节”语义成立。</a:t>
            </a:r>
          </a:p>
        </p:txBody>
      </p:sp>
    </p:spTree>
    <p:extLst>
      <p:ext uri="{BB962C8B-B14F-4D97-AF65-F5344CB8AC3E}">
        <p14:creationId xmlns:p14="http://schemas.microsoft.com/office/powerpoint/2010/main" val="435486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2026-10-15T13:34:10.9520000Z</dcterms:created>
  <dcterms:modified xsi:type="dcterms:W3CDTF">2026-10-15T13:34:10.9520000Z</dcterms:modified>
</coreProperties>
</file>